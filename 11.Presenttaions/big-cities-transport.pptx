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92" r:id="rId3"/>
    <p:sldId id="258" r:id="rId4"/>
    <p:sldId id="273" r:id="rId5"/>
    <p:sldId id="259" r:id="rId6"/>
    <p:sldId id="260" r:id="rId7"/>
    <p:sldId id="278" r:id="rId8"/>
    <p:sldId id="282" r:id="rId9"/>
    <p:sldId id="283" r:id="rId10"/>
    <p:sldId id="284" r:id="rId11"/>
    <p:sldId id="280" r:id="rId12"/>
    <p:sldId id="271" r:id="rId13"/>
    <p:sldId id="286" r:id="rId14"/>
    <p:sldId id="285" r:id="rId15"/>
    <p:sldId id="269" r:id="rId16"/>
    <p:sldId id="272" r:id="rId17"/>
    <p:sldId id="287" r:id="rId18"/>
    <p:sldId id="261" r:id="rId19"/>
    <p:sldId id="274" r:id="rId20"/>
    <p:sldId id="270" r:id="rId21"/>
    <p:sldId id="262" r:id="rId22"/>
    <p:sldId id="294" r:id="rId23"/>
    <p:sldId id="263" r:id="rId24"/>
    <p:sldId id="288" r:id="rId25"/>
    <p:sldId id="293" r:id="rId26"/>
    <p:sldId id="290" r:id="rId27"/>
    <p:sldId id="289" r:id="rId28"/>
    <p:sldId id="291" r:id="rId29"/>
    <p:sldId id="264" r:id="rId30"/>
    <p:sldId id="265" r:id="rId3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915" autoAdjust="0"/>
  </p:normalViewPr>
  <p:slideViewPr>
    <p:cSldViewPr snapToGrid="0">
      <p:cViewPr varScale="1">
        <p:scale>
          <a:sx n="66" d="100"/>
          <a:sy n="66" d="100"/>
        </p:scale>
        <p:origin x="13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227317-6136-4B22-B169-340711FF5F77}" type="datetimeFigureOut">
              <a:rPr lang="fr-BE" smtClean="0"/>
              <a:t>02-11-23</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19D2C4-D801-4083-8F60-14491AD78394}" type="slidenum">
              <a:rPr lang="fr-BE" smtClean="0"/>
              <a:t>‹#›</a:t>
            </a:fld>
            <a:endParaRPr lang="fr-BE"/>
          </a:p>
        </p:txBody>
      </p:sp>
    </p:spTree>
    <p:extLst>
      <p:ext uri="{BB962C8B-B14F-4D97-AF65-F5344CB8AC3E}">
        <p14:creationId xmlns:p14="http://schemas.microsoft.com/office/powerpoint/2010/main" val="2660107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saved people’s lifetime”. That is bottom line. A civil engineer who saves century of lifetime by undermining the modern chaoticity.  </a:t>
            </a:r>
          </a:p>
          <a:p>
            <a:r>
              <a:rPr lang="en-US" dirty="0"/>
              <a:t>In any big cities, transport systems is crucial to people’s life quality and one of its biggest challenges. How do we commutate in a big city?</a:t>
            </a:r>
          </a:p>
          <a:p>
            <a:endParaRPr lang="en-US" dirty="0"/>
          </a:p>
          <a:p>
            <a:r>
              <a:rPr lang="en-US" dirty="0"/>
              <a:t>The “Free-will” and the “Right to come and go” </a:t>
            </a:r>
            <a:r>
              <a:rPr lang="fr-BE" dirty="0" err="1"/>
              <a:t>make</a:t>
            </a:r>
            <a:r>
              <a:rPr lang="fr-BE" dirty="0"/>
              <a:t> </a:t>
            </a:r>
            <a:r>
              <a:rPr lang="fr-BE" dirty="0" err="1"/>
              <a:t>this</a:t>
            </a:r>
            <a:r>
              <a:rPr lang="fr-BE" dirty="0"/>
              <a:t> question not </a:t>
            </a:r>
            <a:r>
              <a:rPr lang="fr-BE" dirty="0" err="1"/>
              <a:t>so</a:t>
            </a:r>
            <a:r>
              <a:rPr lang="fr-BE" dirty="0"/>
              <a:t> </a:t>
            </a:r>
            <a:r>
              <a:rPr lang="fr-BE" dirty="0" err="1"/>
              <a:t>easy</a:t>
            </a:r>
            <a:r>
              <a:rPr lang="fr-BE" dirty="0"/>
              <a:t> to </a:t>
            </a:r>
            <a:r>
              <a:rPr lang="fr-BE" dirty="0" err="1"/>
              <a:t>answered</a:t>
            </a:r>
            <a:r>
              <a:rPr lang="fr-BE" dirty="0"/>
              <a:t>. But </a:t>
            </a:r>
            <a:r>
              <a:rPr lang="fr-BE" dirty="0" err="1"/>
              <a:t>still</a:t>
            </a:r>
            <a:r>
              <a:rPr lang="fr-BE" dirty="0"/>
              <a:t>, </a:t>
            </a:r>
            <a:r>
              <a:rPr lang="fr-BE" dirty="0" err="1"/>
              <a:t>most</a:t>
            </a:r>
            <a:r>
              <a:rPr lang="fr-BE" dirty="0"/>
              <a:t> can </a:t>
            </a:r>
            <a:r>
              <a:rPr lang="fr-BE" dirty="0" err="1"/>
              <a:t>done</a:t>
            </a:r>
            <a:r>
              <a:rPr lang="fr-BE" dirty="0"/>
              <a:t> to </a:t>
            </a:r>
            <a:r>
              <a:rPr lang="fr-BE" dirty="0" err="1"/>
              <a:t>assess</a:t>
            </a:r>
            <a:r>
              <a:rPr lang="fr-BE" dirty="0"/>
              <a:t> </a:t>
            </a:r>
            <a:r>
              <a:rPr lang="fr-BE" dirty="0" err="1"/>
              <a:t>this</a:t>
            </a:r>
            <a:r>
              <a:rPr lang="fr-BE" dirty="0"/>
              <a:t> important question.</a:t>
            </a:r>
          </a:p>
          <a:p>
            <a:endParaRPr lang="fr-BE" dirty="0"/>
          </a:p>
          <a:p>
            <a:r>
              <a:rPr lang="fr-BE" dirty="0" err="1"/>
              <a:t>Let’s</a:t>
            </a:r>
            <a:r>
              <a:rPr lang="fr-BE" dirty="0"/>
              <a:t> </a:t>
            </a:r>
            <a:r>
              <a:rPr lang="fr-BE" dirty="0" err="1"/>
              <a:t>pick</a:t>
            </a:r>
            <a:r>
              <a:rPr lang="fr-BE" dirty="0"/>
              <a:t> the city of London a an </a:t>
            </a:r>
            <a:r>
              <a:rPr lang="fr-BE" dirty="0" err="1"/>
              <a:t>example</a:t>
            </a:r>
            <a:r>
              <a:rPr lang="fr-BE" dirty="0"/>
              <a:t>.</a:t>
            </a:r>
          </a:p>
        </p:txBody>
      </p:sp>
      <p:sp>
        <p:nvSpPr>
          <p:cNvPr id="4" name="Slide Number Placeholder 3"/>
          <p:cNvSpPr>
            <a:spLocks noGrp="1"/>
          </p:cNvSpPr>
          <p:nvPr>
            <p:ph type="sldNum" sz="quarter" idx="5"/>
          </p:nvPr>
        </p:nvSpPr>
        <p:spPr/>
        <p:txBody>
          <a:bodyPr/>
          <a:lstStyle/>
          <a:p>
            <a:fld id="{3D19D2C4-D801-4083-8F60-14491AD78394}" type="slidenum">
              <a:rPr lang="fr-BE" smtClean="0"/>
              <a:t>1</a:t>
            </a:fld>
            <a:endParaRPr lang="fr-BE" dirty="0"/>
          </a:p>
        </p:txBody>
      </p:sp>
    </p:spTree>
    <p:extLst>
      <p:ext uri="{BB962C8B-B14F-4D97-AF65-F5344CB8AC3E}">
        <p14:creationId xmlns:p14="http://schemas.microsoft.com/office/powerpoint/2010/main" val="2197513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a:t>
            </a:r>
          </a:p>
          <a:p>
            <a:r>
              <a:rPr lang="en-US" dirty="0"/>
              <a:t>It would be too pretentious to say I discovered interesting things about TFL for London because I used a public dataset and the graph methods applied are well-known. </a:t>
            </a:r>
          </a:p>
          <a:p>
            <a:endParaRPr lang="en-US" dirty="0"/>
          </a:p>
          <a:p>
            <a:r>
              <a:rPr lang="en-US" dirty="0"/>
              <a:t>The only distinct new factor in this project is my good sense and my creativity that guided through modelling and analyzing a such efficient and complex system of transport.</a:t>
            </a:r>
          </a:p>
          <a:p>
            <a:endParaRPr lang="en-US" dirty="0"/>
          </a:p>
          <a:p>
            <a:r>
              <a:rPr lang="en-US" dirty="0"/>
              <a:t>The main objective is to rank edges relevance.  In public system, it is natural that we think in collective relevance, but a single user do not think collectively when choosing how to commute. OK, you opt to bike to reduce CO2 emissions.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will base you decision in your values but also to why you need to dislocate. But assumes it raining and it is cold and you need to go from A to B. Cost, time, CO2 emission, seated or standing, wi-fi connection … What drives a single users when choosing a path?</a:t>
            </a:r>
          </a:p>
          <a:p>
            <a:endParaRPr lang="en-US" dirty="0"/>
          </a:p>
          <a:p>
            <a:r>
              <a:rPr lang="en-US" dirty="0"/>
              <a:t>Very loosely, let’s say it time. Everyone seeks to spend as least time possible at the transport system. Why? Reason are not hard to be </a:t>
            </a:r>
            <a:r>
              <a:rPr lang="en-US" dirty="0" err="1"/>
              <a:t>enummerated</a:t>
            </a:r>
            <a:r>
              <a:rPr lang="en-US" dirty="0"/>
              <a:t>…</a:t>
            </a:r>
          </a:p>
          <a:p>
            <a:endParaRPr lang="en-US" dirty="0"/>
          </a:p>
          <a:p>
            <a:r>
              <a:rPr lang="en-US" dirty="0"/>
              <a:t>What drives operation when planning?</a:t>
            </a:r>
          </a:p>
          <a:p>
            <a:endParaRPr lang="en-US" dirty="0"/>
          </a:p>
          <a:p>
            <a:endParaRPr lang="en-US" dirty="0"/>
          </a:p>
          <a:p>
            <a:r>
              <a:rPr lang="en-US" dirty="0"/>
              <a:t>The sum of single users reflect the collectivity?</a:t>
            </a:r>
          </a:p>
          <a:p>
            <a:r>
              <a:rPr lang="en-US" dirty="0"/>
              <a:t>Single users opt for new path with minimum time, not to maximize the efficiency?</a:t>
            </a:r>
          </a:p>
          <a:p>
            <a:endParaRPr lang="en-US" dirty="0"/>
          </a:p>
          <a:p>
            <a:endParaRPr lang="en-US" dirty="0"/>
          </a:p>
          <a:p>
            <a:endParaRPr lang="en-US" dirty="0"/>
          </a:p>
          <a:p>
            <a:endParaRPr lang="en-US" dirty="0"/>
          </a:p>
          <a:p>
            <a:endParaRPr lang="en-US" dirty="0"/>
          </a:p>
          <a:p>
            <a:r>
              <a:rPr lang="en-US" dirty="0"/>
              <a:t>Firstly, I will apply a disparity filter to rank weighted connection between stations (edges) using a NetworkX. </a:t>
            </a:r>
          </a:p>
          <a:p>
            <a:endParaRPr lang="en-US" dirty="0"/>
          </a:p>
          <a:p>
            <a:r>
              <a:rPr lang="en-US" dirty="0"/>
              <a:t>Secondly, I will use Neo4J to run a lot of shortest path queries to assemble another edge ranking method, considering the same weight metrics.</a:t>
            </a:r>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2</a:t>
            </a:fld>
            <a:endParaRPr lang="fr-BE" dirty="0"/>
          </a:p>
        </p:txBody>
      </p:sp>
    </p:spTree>
    <p:extLst>
      <p:ext uri="{BB962C8B-B14F-4D97-AF65-F5344CB8AC3E}">
        <p14:creationId xmlns:p14="http://schemas.microsoft.com/office/powerpoint/2010/main" val="1559235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a:t>
            </a:r>
          </a:p>
          <a:p>
            <a:r>
              <a:rPr lang="en-US" dirty="0"/>
              <a:t>“Before anything, I discovered that plan and operate an efficient transport system demands much more than what takes to use it.”</a:t>
            </a:r>
          </a:p>
          <a:p>
            <a:endParaRPr lang="en-US" dirty="0"/>
          </a:p>
          <a:p>
            <a:r>
              <a:rPr lang="en-US" dirty="0"/>
              <a:t>For that you need to thing in two things: TRAFFIC x ENGINEERING;</a:t>
            </a:r>
          </a:p>
          <a:p>
            <a:endParaRPr lang="en-US" dirty="0"/>
          </a:p>
          <a:p>
            <a:r>
              <a:rPr lang="en-US" dirty="0"/>
              <a:t>Then in three: </a:t>
            </a:r>
            <a:r>
              <a:rPr lang="en-US" dirty="0">
                <a:sym typeface="Wingdings" panose="05000000000000000000" pitchFamily="2" charset="2"/>
              </a:rPr>
              <a:t>Traffic  (Infra) x (Operations)</a:t>
            </a:r>
            <a:endParaRPr lang="en-US" dirty="0"/>
          </a:p>
          <a:p>
            <a:endParaRPr lang="fr-BE" dirty="0"/>
          </a:p>
          <a:p>
            <a:r>
              <a:rPr lang="fr-BE" dirty="0"/>
              <a:t>INFRA: </a:t>
            </a:r>
            <a:r>
              <a:rPr lang="fr-BE" dirty="0" err="1"/>
              <a:t>what</a:t>
            </a:r>
            <a:r>
              <a:rPr lang="fr-BE" dirty="0"/>
              <a:t> </a:t>
            </a:r>
            <a:r>
              <a:rPr lang="fr-BE" dirty="0" err="1"/>
              <a:t>is</a:t>
            </a:r>
            <a:r>
              <a:rPr lang="fr-BE" dirty="0"/>
              <a:t> the best possible </a:t>
            </a:r>
            <a:r>
              <a:rPr lang="fr-BE" dirty="0" err="1"/>
              <a:t>infra-structure</a:t>
            </a:r>
            <a:r>
              <a:rPr lang="fr-BE" dirty="0"/>
              <a:t> to serve the public?</a:t>
            </a:r>
          </a:p>
          <a:p>
            <a:endParaRPr lang="fr-BE" dirty="0"/>
          </a:p>
          <a:p>
            <a:r>
              <a:rPr lang="fr-BE" dirty="0"/>
              <a:t>OPERATIONS: </a:t>
            </a:r>
            <a:r>
              <a:rPr lang="fr-BE" dirty="0" err="1"/>
              <a:t>what</a:t>
            </a:r>
            <a:r>
              <a:rPr lang="fr-BE" dirty="0"/>
              <a:t> </a:t>
            </a:r>
            <a:r>
              <a:rPr lang="fr-BE" dirty="0" err="1"/>
              <a:t>is</a:t>
            </a:r>
            <a:r>
              <a:rPr lang="fr-BE" dirty="0"/>
              <a:t> the best </a:t>
            </a:r>
            <a:r>
              <a:rPr lang="fr-BE" dirty="0" err="1"/>
              <a:t>strategy</a:t>
            </a:r>
            <a:r>
              <a:rPr lang="fr-BE" dirty="0"/>
              <a:t> to </a:t>
            </a:r>
            <a:r>
              <a:rPr lang="fr-BE" dirty="0" err="1"/>
              <a:t>optimizes</a:t>
            </a:r>
            <a:r>
              <a:rPr lang="fr-BE" dirty="0"/>
              <a:t> the infra-</a:t>
            </a:r>
            <a:r>
              <a:rPr lang="fr-BE" dirty="0" err="1"/>
              <a:t>strutures</a:t>
            </a:r>
            <a:r>
              <a:rPr lang="fr-BE" dirty="0"/>
              <a:t> best </a:t>
            </a:r>
            <a:r>
              <a:rPr lang="fr-BE" dirty="0" err="1"/>
              <a:t>serving</a:t>
            </a:r>
            <a:r>
              <a:rPr lang="fr-BE" dirty="0"/>
              <a:t> the public?</a:t>
            </a:r>
          </a:p>
          <a:p>
            <a:endParaRPr lang="fr-BE" dirty="0"/>
          </a:p>
          <a:p>
            <a:r>
              <a:rPr lang="fr-BE" dirty="0"/>
              <a:t>I can </a:t>
            </a:r>
            <a:r>
              <a:rPr lang="fr-BE" dirty="0" err="1"/>
              <a:t>already</a:t>
            </a:r>
            <a:r>
              <a:rPr lang="fr-BE" dirty="0"/>
              <a:t> tell </a:t>
            </a:r>
            <a:r>
              <a:rPr lang="fr-BE" dirty="0" err="1"/>
              <a:t>you</a:t>
            </a:r>
            <a:r>
              <a:rPr lang="fr-BE" dirty="0"/>
              <a:t> </a:t>
            </a:r>
            <a:r>
              <a:rPr lang="fr-BE" dirty="0" err="1"/>
              <a:t>that</a:t>
            </a:r>
            <a:r>
              <a:rPr lang="fr-BE" dirty="0"/>
              <a:t> I do not have </a:t>
            </a:r>
            <a:r>
              <a:rPr lang="fr-BE" dirty="0" err="1"/>
              <a:t>those</a:t>
            </a:r>
            <a:r>
              <a:rPr lang="fr-BE" dirty="0"/>
              <a:t> </a:t>
            </a:r>
            <a:r>
              <a:rPr lang="fr-BE" dirty="0" err="1"/>
              <a:t>answers</a:t>
            </a:r>
            <a:r>
              <a:rPr lang="fr-BE" dirty="0"/>
              <a:t>. </a:t>
            </a:r>
          </a:p>
          <a:p>
            <a:endParaRPr lang="en-GB" noProof="0" dirty="0"/>
          </a:p>
          <a:p>
            <a:r>
              <a:rPr lang="fr-BE" dirty="0"/>
              <a:t>A </a:t>
            </a:r>
            <a:r>
              <a:rPr lang="fr-BE" dirty="0" err="1"/>
              <a:t>fully</a:t>
            </a:r>
            <a:r>
              <a:rPr lang="fr-BE" dirty="0"/>
              <a:t> </a:t>
            </a:r>
            <a:r>
              <a:rPr lang="fr-BE" dirty="0" err="1"/>
              <a:t>connected</a:t>
            </a:r>
            <a:r>
              <a:rPr lang="fr-BE" dirty="0"/>
              <a:t> Net </a:t>
            </a:r>
            <a:r>
              <a:rPr lang="fr-BE" dirty="0" err="1"/>
              <a:t>is</a:t>
            </a:r>
            <a:r>
              <a:rPr lang="fr-BE" dirty="0"/>
              <a:t> the </a:t>
            </a:r>
            <a:r>
              <a:rPr lang="fr-BE" dirty="0" err="1"/>
              <a:t>most</a:t>
            </a:r>
            <a:r>
              <a:rPr lang="fr-BE" dirty="0"/>
              <a:t> efficient one. </a:t>
            </a:r>
            <a:r>
              <a:rPr lang="fr-BE" dirty="0" err="1"/>
              <a:t>However</a:t>
            </a:r>
            <a:r>
              <a:rPr lang="fr-BE" dirty="0"/>
              <a:t>, It has the </a:t>
            </a:r>
            <a:r>
              <a:rPr lang="en-GB" noProof="0" dirty="0" err="1"/>
              <a:t>highiest</a:t>
            </a:r>
            <a:r>
              <a:rPr lang="fr-BE" dirty="0"/>
              <a:t> stress potentiel. </a:t>
            </a:r>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3</a:t>
            </a:fld>
            <a:endParaRPr lang="fr-BE"/>
          </a:p>
        </p:txBody>
      </p:sp>
    </p:spTree>
    <p:extLst>
      <p:ext uri="{BB962C8B-B14F-4D97-AF65-F5344CB8AC3E}">
        <p14:creationId xmlns:p14="http://schemas.microsoft.com/office/powerpoint/2010/main" val="66036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“Before anything, I discovered that plan and operate an efficient transport system demands much more than what takes to use it.”</a:t>
            </a:r>
          </a:p>
          <a:p>
            <a:endParaRPr lang="en-US" dirty="0"/>
          </a:p>
          <a:p>
            <a:r>
              <a:rPr lang="en-US" dirty="0"/>
              <a:t>For that you need to thing in two things: TRAFFIC x ENGINEERING;</a:t>
            </a:r>
          </a:p>
          <a:p>
            <a:endParaRPr lang="en-US" dirty="0"/>
          </a:p>
          <a:p>
            <a:r>
              <a:rPr lang="en-US" dirty="0"/>
              <a:t>Then in three: </a:t>
            </a:r>
            <a:r>
              <a:rPr lang="en-US" dirty="0">
                <a:sym typeface="Wingdings" panose="05000000000000000000" pitchFamily="2" charset="2"/>
              </a:rPr>
              <a:t>Traffic  (Infra) x (Operations)</a:t>
            </a:r>
            <a:endParaRPr lang="en-US" dirty="0"/>
          </a:p>
          <a:p>
            <a:endParaRPr lang="fr-BE" dirty="0"/>
          </a:p>
          <a:p>
            <a:r>
              <a:rPr lang="fr-BE" dirty="0"/>
              <a:t>INFRA: </a:t>
            </a:r>
            <a:r>
              <a:rPr lang="fr-BE" dirty="0" err="1"/>
              <a:t>what</a:t>
            </a:r>
            <a:r>
              <a:rPr lang="fr-BE" dirty="0"/>
              <a:t> </a:t>
            </a:r>
            <a:r>
              <a:rPr lang="fr-BE" dirty="0" err="1"/>
              <a:t>is</a:t>
            </a:r>
            <a:r>
              <a:rPr lang="fr-BE" dirty="0"/>
              <a:t> the best possible </a:t>
            </a:r>
            <a:r>
              <a:rPr lang="fr-BE" dirty="0" err="1"/>
              <a:t>infra-structure</a:t>
            </a:r>
            <a:r>
              <a:rPr lang="fr-BE" dirty="0"/>
              <a:t> to serve the public?</a:t>
            </a:r>
          </a:p>
          <a:p>
            <a:endParaRPr lang="fr-BE" dirty="0"/>
          </a:p>
          <a:p>
            <a:r>
              <a:rPr lang="fr-BE" dirty="0"/>
              <a:t>OPERATIONS: </a:t>
            </a:r>
            <a:r>
              <a:rPr lang="fr-BE" dirty="0" err="1"/>
              <a:t>what</a:t>
            </a:r>
            <a:r>
              <a:rPr lang="fr-BE" dirty="0"/>
              <a:t> </a:t>
            </a:r>
            <a:r>
              <a:rPr lang="fr-BE" dirty="0" err="1"/>
              <a:t>is</a:t>
            </a:r>
            <a:r>
              <a:rPr lang="fr-BE" dirty="0"/>
              <a:t> the best </a:t>
            </a:r>
            <a:r>
              <a:rPr lang="fr-BE" dirty="0" err="1"/>
              <a:t>strategy</a:t>
            </a:r>
            <a:r>
              <a:rPr lang="fr-BE" dirty="0"/>
              <a:t> to </a:t>
            </a:r>
            <a:r>
              <a:rPr lang="fr-BE" dirty="0" err="1"/>
              <a:t>optimizes</a:t>
            </a:r>
            <a:r>
              <a:rPr lang="fr-BE" dirty="0"/>
              <a:t> the infra-</a:t>
            </a:r>
            <a:r>
              <a:rPr lang="fr-BE" dirty="0" err="1"/>
              <a:t>strutures</a:t>
            </a:r>
            <a:r>
              <a:rPr lang="fr-BE" dirty="0"/>
              <a:t> best </a:t>
            </a:r>
            <a:r>
              <a:rPr lang="fr-BE" dirty="0" err="1"/>
              <a:t>serving</a:t>
            </a:r>
            <a:r>
              <a:rPr lang="fr-BE" dirty="0"/>
              <a:t> the public?</a:t>
            </a:r>
          </a:p>
          <a:p>
            <a:endParaRPr lang="fr-BE" dirty="0"/>
          </a:p>
          <a:p>
            <a:r>
              <a:rPr lang="fr-BE" dirty="0"/>
              <a:t>I can </a:t>
            </a:r>
            <a:r>
              <a:rPr lang="fr-BE" dirty="0" err="1"/>
              <a:t>already</a:t>
            </a:r>
            <a:r>
              <a:rPr lang="fr-BE" dirty="0"/>
              <a:t> tell </a:t>
            </a:r>
            <a:r>
              <a:rPr lang="fr-BE" dirty="0" err="1"/>
              <a:t>you</a:t>
            </a:r>
            <a:r>
              <a:rPr lang="fr-BE" dirty="0"/>
              <a:t> </a:t>
            </a:r>
            <a:r>
              <a:rPr lang="fr-BE" dirty="0" err="1"/>
              <a:t>that</a:t>
            </a:r>
            <a:r>
              <a:rPr lang="fr-BE" dirty="0"/>
              <a:t> I do not have </a:t>
            </a:r>
            <a:r>
              <a:rPr lang="fr-BE" dirty="0" err="1"/>
              <a:t>those</a:t>
            </a:r>
            <a:r>
              <a:rPr lang="fr-BE" dirty="0"/>
              <a:t> </a:t>
            </a:r>
            <a:r>
              <a:rPr lang="fr-BE" dirty="0" err="1"/>
              <a:t>answers</a:t>
            </a:r>
            <a:r>
              <a:rPr lang="fr-BE" dirty="0"/>
              <a:t>. </a:t>
            </a:r>
          </a:p>
          <a:p>
            <a:endParaRPr lang="en-GB" noProof="0" dirty="0"/>
          </a:p>
          <a:p>
            <a:r>
              <a:rPr lang="fr-BE" dirty="0"/>
              <a:t>A </a:t>
            </a:r>
            <a:r>
              <a:rPr lang="fr-BE" dirty="0" err="1"/>
              <a:t>fully</a:t>
            </a:r>
            <a:r>
              <a:rPr lang="fr-BE" dirty="0"/>
              <a:t> </a:t>
            </a:r>
            <a:r>
              <a:rPr lang="fr-BE" dirty="0" err="1"/>
              <a:t>connected</a:t>
            </a:r>
            <a:r>
              <a:rPr lang="fr-BE" dirty="0"/>
              <a:t> Net </a:t>
            </a:r>
            <a:r>
              <a:rPr lang="fr-BE" dirty="0" err="1"/>
              <a:t>is</a:t>
            </a:r>
            <a:r>
              <a:rPr lang="fr-BE" dirty="0"/>
              <a:t> the </a:t>
            </a:r>
            <a:r>
              <a:rPr lang="fr-BE" dirty="0" err="1"/>
              <a:t>most</a:t>
            </a:r>
            <a:r>
              <a:rPr lang="fr-BE" dirty="0"/>
              <a:t> efficient one. </a:t>
            </a:r>
            <a:r>
              <a:rPr lang="fr-BE" dirty="0" err="1"/>
              <a:t>However</a:t>
            </a:r>
            <a:r>
              <a:rPr lang="fr-BE" dirty="0"/>
              <a:t>, It has the </a:t>
            </a:r>
            <a:r>
              <a:rPr lang="en-GB" noProof="0" dirty="0" err="1"/>
              <a:t>highiest</a:t>
            </a:r>
            <a:r>
              <a:rPr lang="fr-BE" dirty="0"/>
              <a:t> stress potentiel. </a:t>
            </a:r>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4</a:t>
            </a:fld>
            <a:endParaRPr lang="fr-BE"/>
          </a:p>
        </p:txBody>
      </p:sp>
    </p:spTree>
    <p:extLst>
      <p:ext uri="{BB962C8B-B14F-4D97-AF65-F5344CB8AC3E}">
        <p14:creationId xmlns:p14="http://schemas.microsoft.com/office/powerpoint/2010/main" val="2973285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What I have is results of trials which allows to compares different perspectives of a same transport system.</a:t>
            </a:r>
          </a:p>
          <a:p>
            <a:endParaRPr lang="en-US" dirty="0"/>
          </a:p>
          <a:p>
            <a:r>
              <a:rPr lang="en-US" dirty="0"/>
              <a:t>How it behaves in accordance to the day of the week or the time of the day. In other words, how edges relevance change accordingly the amount of people and disposal vehicles.</a:t>
            </a:r>
          </a:p>
          <a:p>
            <a:endParaRPr lang="en-US" dirty="0"/>
          </a:p>
          <a:p>
            <a:r>
              <a:rPr lang="en-US" dirty="0"/>
              <a:t>The speed is also relevant, but it will variate. The numerous interval_id map variety of travel time that a vehicle can reach it destiny based on the weekday and time of the day. I apologize for simplifying some of the meticulous information made available for the TFL.</a:t>
            </a:r>
          </a:p>
          <a:p>
            <a:endParaRPr lang="en-US" dirty="0"/>
          </a:p>
          <a:p>
            <a:r>
              <a:rPr lang="en-US" dirty="0"/>
              <a:t>Those simplification will be detailed in the Data chapter as well as the approaches used to encounter the ranks in the methodology section. </a:t>
            </a:r>
          </a:p>
          <a:p>
            <a:endParaRPr lang="en-US" dirty="0"/>
          </a:p>
          <a:p>
            <a:r>
              <a:rPr lang="en-US" dirty="0"/>
              <a:t>Later I will present and discuss the similarities and discrepancy of ranking methods and the transport system traffic variation. Finally, I also would like to present following steps and comment of the challenge of providing a efficient &amp; equalitarian transportation service.</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5</a:t>
            </a:fld>
            <a:endParaRPr lang="fr-BE"/>
          </a:p>
        </p:txBody>
      </p:sp>
    </p:spTree>
    <p:extLst>
      <p:ext uri="{BB962C8B-B14F-4D97-AF65-F5344CB8AC3E}">
        <p14:creationId xmlns:p14="http://schemas.microsoft.com/office/powerpoint/2010/main" val="147694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Abou the data, chapter</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6</a:t>
            </a:fld>
            <a:endParaRPr lang="fr-BE"/>
          </a:p>
        </p:txBody>
      </p:sp>
    </p:spTree>
    <p:extLst>
      <p:ext uri="{BB962C8B-B14F-4D97-AF65-F5344CB8AC3E}">
        <p14:creationId xmlns:p14="http://schemas.microsoft.com/office/powerpoint/2010/main" val="3747133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Abou the data, chapter</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7</a:t>
            </a:fld>
            <a:endParaRPr lang="fr-BE"/>
          </a:p>
        </p:txBody>
      </p:sp>
    </p:spTree>
    <p:extLst>
      <p:ext uri="{BB962C8B-B14F-4D97-AF65-F5344CB8AC3E}">
        <p14:creationId xmlns:p14="http://schemas.microsoft.com/office/powerpoint/2010/main" val="2739573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Abou the data, chapter</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8</a:t>
            </a:fld>
            <a:endParaRPr lang="fr-BE"/>
          </a:p>
        </p:txBody>
      </p:sp>
    </p:spTree>
    <p:extLst>
      <p:ext uri="{BB962C8B-B14F-4D97-AF65-F5344CB8AC3E}">
        <p14:creationId xmlns:p14="http://schemas.microsoft.com/office/powerpoint/2010/main" val="320994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Abou the data, chapter</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9</a:t>
            </a:fld>
            <a:endParaRPr lang="fr-BE"/>
          </a:p>
        </p:txBody>
      </p:sp>
    </p:spTree>
    <p:extLst>
      <p:ext uri="{BB962C8B-B14F-4D97-AF65-F5344CB8AC3E}">
        <p14:creationId xmlns:p14="http://schemas.microsoft.com/office/powerpoint/2010/main" val="2355241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Abou the data, chapter</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10</a:t>
            </a:fld>
            <a:endParaRPr lang="fr-BE"/>
          </a:p>
        </p:txBody>
      </p:sp>
    </p:spTree>
    <p:extLst>
      <p:ext uri="{BB962C8B-B14F-4D97-AF65-F5344CB8AC3E}">
        <p14:creationId xmlns:p14="http://schemas.microsoft.com/office/powerpoint/2010/main" val="1440031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Abou the data, chapter</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11</a:t>
            </a:fld>
            <a:endParaRPr lang="fr-BE"/>
          </a:p>
        </p:txBody>
      </p:sp>
    </p:spTree>
    <p:extLst>
      <p:ext uri="{BB962C8B-B14F-4D97-AF65-F5344CB8AC3E}">
        <p14:creationId xmlns:p14="http://schemas.microsoft.com/office/powerpoint/2010/main" val="1184285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Ranking Methods:</a:t>
            </a:r>
          </a:p>
          <a:p>
            <a:endParaRPr lang="en-US" dirty="0"/>
          </a:p>
          <a:p>
            <a:pPr marL="171450" indent="-171450">
              <a:buFont typeface="Wingdings" panose="05000000000000000000" pitchFamily="2" charset="2"/>
              <a:buChar char="à"/>
            </a:pPr>
            <a:r>
              <a:rPr lang="en-US" dirty="0"/>
              <a:t>Disparity Filter (Networkx):</a:t>
            </a:r>
          </a:p>
          <a:p>
            <a:pPr marL="0" indent="0">
              <a:buFont typeface="Wingdings" panose="05000000000000000000" pitchFamily="2" charset="2"/>
              <a:buNone/>
            </a:pPr>
            <a:r>
              <a:rPr lang="en-US" dirty="0"/>
              <a:t>It filters out edges deemed not compatible with a random distribution with a certain statistical significance (alpha). </a:t>
            </a:r>
          </a:p>
          <a:p>
            <a:pPr marL="0" indent="0">
              <a:buFont typeface="Wingdings" panose="05000000000000000000" pitchFamily="2" charset="2"/>
              <a:buNone/>
            </a:pPr>
            <a:r>
              <a:rPr lang="en-US" dirty="0"/>
              <a:t>This manner its possible to encounter different levels of heterogeneities. </a:t>
            </a:r>
          </a:p>
          <a:p>
            <a:pPr marL="0" indent="0">
              <a:buFont typeface="Wingdings" panose="05000000000000000000" pitchFamily="2" charset="2"/>
              <a:buNone/>
            </a:pPr>
            <a:r>
              <a:rPr lang="en-US" dirty="0">
                <a:sym typeface="Wingdings" panose="05000000000000000000" pitchFamily="2" charset="2"/>
              </a:rPr>
              <a:t>Indicator: Efficient </a:t>
            </a:r>
            <a:r>
              <a:rPr lang="en-US" dirty="0"/>
              <a:t>Indicator (weight), weight prob. distribution, statistical relevance, node strength, node degree, </a:t>
            </a:r>
          </a:p>
          <a:p>
            <a:pPr marL="0" indent="0">
              <a:buFont typeface="Wingdings" panose="05000000000000000000" pitchFamily="2" charset="2"/>
              <a:buNone/>
            </a:pPr>
            <a:r>
              <a:rPr lang="en-US" dirty="0"/>
              <a:t>Ranks: what are the most relevant edges in Collective angle.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t>
            </a:r>
            <a:r>
              <a:rPr lang="en-US" b="0" i="0" dirty="0">
                <a:solidFill>
                  <a:srgbClr val="57606A"/>
                </a:solidFill>
                <a:effectLst/>
                <a:latin typeface="-apple-system"/>
              </a:rPr>
              <a:t>The disparity filter exploits local heterogeneity and local correlations among weights to extract the network backbone by considering the relevant edges at all the scales present in the system. The methodology preserves an edge whenever its intensity is a statistically not compatible with respect to a null hypothesis of uniform randomness for at least one of the two nodes the edge is incident to, which ensures that small nodes in terms of strength are not neglected. As result, the disparity filter reduces the number of edges in the original network significantly keeping, at the same time, almost all the weight and a large fraction of nodes. As well, this filter preserves the cut-off of the degree distribution, the form of the weight distribution, and the clustering coefficient.</a:t>
            </a:r>
            <a:endParaRPr lang="en-US" dirty="0"/>
          </a:p>
          <a:p>
            <a:pPr marL="0" indent="0">
              <a:buFont typeface="Wingdings" panose="05000000000000000000" pitchFamily="2" charset="2"/>
              <a:buNone/>
            </a:pPr>
            <a:endParaRPr lang="en-US" dirty="0"/>
          </a:p>
          <a:p>
            <a:pPr marL="171450" indent="-171450">
              <a:buFont typeface="Wingdings" panose="05000000000000000000" pitchFamily="2" charset="2"/>
              <a:buChar char="à"/>
            </a:pPr>
            <a:r>
              <a:rPr lang="en-US" dirty="0"/>
              <a:t>Shortest Path: (Neo4j):</a:t>
            </a:r>
          </a:p>
          <a:p>
            <a:pPr marL="0" indent="0">
              <a:buFont typeface="Wingdings" panose="05000000000000000000" pitchFamily="2" charset="2"/>
              <a:buNone/>
            </a:pPr>
            <a:r>
              <a:rPr lang="en-US" dirty="0"/>
              <a:t>Each edges will be ranked with the possible distress caused by its disruption. It means, the loss of time.</a:t>
            </a:r>
          </a:p>
          <a:p>
            <a:pPr marL="0" indent="0">
              <a:buFont typeface="Wingdings" panose="05000000000000000000" pitchFamily="2" charset="2"/>
              <a:buNone/>
            </a:pPr>
            <a:r>
              <a:rPr lang="en-US" dirty="0"/>
              <a:t>For that, it is necessary to take the user’s perspective. Thanks to NUMBAT dataset, it was possible to statically </a:t>
            </a:r>
          </a:p>
          <a:p>
            <a:pPr marL="0" indent="0">
              <a:buFont typeface="Wingdings" panose="05000000000000000000" pitchFamily="2" charset="2"/>
              <a:buNone/>
            </a:pPr>
            <a:r>
              <a:rPr lang="en-US" dirty="0"/>
              <a:t>recreate the of the user O/D route at each segment.</a:t>
            </a:r>
          </a:p>
          <a:p>
            <a:pPr marL="0" indent="0">
              <a:buFont typeface="Wingdings" panose="05000000000000000000" pitchFamily="2" charset="2"/>
              <a:buNone/>
            </a:pPr>
            <a:r>
              <a:rPr lang="en-US" dirty="0"/>
              <a:t>Indicator: Times (the less </a:t>
            </a:r>
            <a:r>
              <a:rPr lang="en-US" dirty="0">
                <a:sym typeface="Wingdings" panose="05000000000000000000" pitchFamily="2" charset="2"/>
              </a:rPr>
              <a:t>possible) </a:t>
            </a:r>
          </a:p>
          <a:p>
            <a:pPr marL="0" indent="0">
              <a:buFont typeface="Wingdings" panose="05000000000000000000" pitchFamily="2" charset="2"/>
              <a:buNone/>
            </a:pPr>
            <a:r>
              <a:rPr lang="en-US" dirty="0">
                <a:sym typeface="Wingdings" panose="05000000000000000000" pitchFamily="2" charset="2"/>
              </a:rPr>
              <a:t>Ranks: what are the most relevant edges in User angle. The ones that saves more journey time. </a:t>
            </a: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Comparison Method: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sym typeface="Wingdings" panose="05000000000000000000" pitchFamily="2" charset="2"/>
              </a:rPr>
              <a:t> Kendall Correlation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12</a:t>
            </a:fld>
            <a:endParaRPr lang="fr-BE"/>
          </a:p>
        </p:txBody>
      </p:sp>
    </p:spTree>
    <p:extLst>
      <p:ext uri="{BB962C8B-B14F-4D97-AF65-F5344CB8AC3E}">
        <p14:creationId xmlns:p14="http://schemas.microsoft.com/office/powerpoint/2010/main" val="2978181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Ranking Methods:</a:t>
            </a:r>
          </a:p>
          <a:p>
            <a:endParaRPr lang="en-US" dirty="0"/>
          </a:p>
          <a:p>
            <a:pPr marL="171450" indent="-171450">
              <a:buFont typeface="Wingdings" panose="05000000000000000000" pitchFamily="2" charset="2"/>
              <a:buChar char="à"/>
            </a:pPr>
            <a:r>
              <a:rPr lang="en-US" dirty="0"/>
              <a:t>Disparity Filter (Networkx):</a:t>
            </a:r>
          </a:p>
          <a:p>
            <a:pPr marL="0" indent="0">
              <a:buFont typeface="Wingdings" panose="05000000000000000000" pitchFamily="2" charset="2"/>
              <a:buNone/>
            </a:pPr>
            <a:r>
              <a:rPr lang="en-US" dirty="0"/>
              <a:t>It filters out edges deemed not compatible with a random distribution with a certain statistical significance (alpha). </a:t>
            </a:r>
          </a:p>
          <a:p>
            <a:pPr marL="0" indent="0">
              <a:buFont typeface="Wingdings" panose="05000000000000000000" pitchFamily="2" charset="2"/>
              <a:buNone/>
            </a:pPr>
            <a:r>
              <a:rPr lang="en-US" dirty="0"/>
              <a:t>This manner its possible to encounter different levels of heterogeneities. </a:t>
            </a:r>
          </a:p>
          <a:p>
            <a:pPr marL="0" indent="0">
              <a:buFont typeface="Wingdings" panose="05000000000000000000" pitchFamily="2" charset="2"/>
              <a:buNone/>
            </a:pPr>
            <a:r>
              <a:rPr lang="en-US" dirty="0">
                <a:sym typeface="Wingdings" panose="05000000000000000000" pitchFamily="2" charset="2"/>
              </a:rPr>
              <a:t>Indicator: Efficient </a:t>
            </a:r>
            <a:r>
              <a:rPr lang="en-US" dirty="0"/>
              <a:t>Indicator (weight), weight prob. distribution, statistical relevance, node strength, node degree, </a:t>
            </a:r>
          </a:p>
          <a:p>
            <a:pPr marL="0" indent="0">
              <a:buFont typeface="Wingdings" panose="05000000000000000000" pitchFamily="2" charset="2"/>
              <a:buNone/>
            </a:pPr>
            <a:r>
              <a:rPr lang="en-US" dirty="0"/>
              <a:t>Ranks: what are the most relevant edges in Collective angle.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t>
            </a:r>
            <a:r>
              <a:rPr lang="en-US" b="0" i="0" dirty="0">
                <a:solidFill>
                  <a:srgbClr val="57606A"/>
                </a:solidFill>
                <a:effectLst/>
                <a:latin typeface="-apple-system"/>
              </a:rPr>
              <a:t>The disparity filter exploits local heterogeneity and local correlations among weights to extract the network backbone by considering the relevant edges at all the scales present in the system. The methodology preserves an edge whenever its intensity is a statistically not compatible with respect to a null hypothesis of uniform randomness for at least one of the two nodes the edge is incident to, which ensures that small nodes in terms of strength are not neglected. As result, the disparity filter reduces the number of edges in the original network significantly keeping, at the same time, almost all the weight and a large fraction of nodes. As well, this filter preserves the cut-off of the degree distribution, the form of the weight distribution, and the clustering coefficient.</a:t>
            </a:r>
            <a:endParaRPr lang="en-US" dirty="0"/>
          </a:p>
          <a:p>
            <a:pPr marL="0" indent="0">
              <a:buFont typeface="Wingdings" panose="05000000000000000000" pitchFamily="2" charset="2"/>
              <a:buNone/>
            </a:pPr>
            <a:endParaRPr lang="en-US" dirty="0"/>
          </a:p>
          <a:p>
            <a:pPr marL="171450" indent="-171450">
              <a:buFont typeface="Wingdings" panose="05000000000000000000" pitchFamily="2" charset="2"/>
              <a:buChar char="à"/>
            </a:pPr>
            <a:r>
              <a:rPr lang="en-US" dirty="0"/>
              <a:t>Shortest Path: (Neo4j):</a:t>
            </a:r>
          </a:p>
          <a:p>
            <a:pPr marL="0" indent="0">
              <a:buFont typeface="Wingdings" panose="05000000000000000000" pitchFamily="2" charset="2"/>
              <a:buNone/>
            </a:pPr>
            <a:r>
              <a:rPr lang="en-US" dirty="0"/>
              <a:t>Each edges will be ranked with the possible distress caused by its disruption. It means, the loss of time.</a:t>
            </a:r>
          </a:p>
          <a:p>
            <a:pPr marL="0" indent="0">
              <a:buFont typeface="Wingdings" panose="05000000000000000000" pitchFamily="2" charset="2"/>
              <a:buNone/>
            </a:pPr>
            <a:r>
              <a:rPr lang="en-US" dirty="0"/>
              <a:t>For that, it is necessary to take the user’s perspective. Thanks to NUMBAT dataset, it was possible to statically </a:t>
            </a:r>
          </a:p>
          <a:p>
            <a:pPr marL="0" indent="0">
              <a:buFont typeface="Wingdings" panose="05000000000000000000" pitchFamily="2" charset="2"/>
              <a:buNone/>
            </a:pPr>
            <a:r>
              <a:rPr lang="en-US" dirty="0"/>
              <a:t>recreate the of the user O/D route at each segment.</a:t>
            </a:r>
          </a:p>
          <a:p>
            <a:pPr marL="0" indent="0">
              <a:buFont typeface="Wingdings" panose="05000000000000000000" pitchFamily="2" charset="2"/>
              <a:buNone/>
            </a:pPr>
            <a:r>
              <a:rPr lang="en-US" dirty="0"/>
              <a:t>Indicator: Times (the less </a:t>
            </a:r>
            <a:r>
              <a:rPr lang="en-US" dirty="0">
                <a:sym typeface="Wingdings" panose="05000000000000000000" pitchFamily="2" charset="2"/>
              </a:rPr>
              <a:t>possible) </a:t>
            </a:r>
          </a:p>
          <a:p>
            <a:pPr marL="0" indent="0">
              <a:buFont typeface="Wingdings" panose="05000000000000000000" pitchFamily="2" charset="2"/>
              <a:buNone/>
            </a:pPr>
            <a:r>
              <a:rPr lang="en-US" dirty="0">
                <a:sym typeface="Wingdings" panose="05000000000000000000" pitchFamily="2" charset="2"/>
              </a:rPr>
              <a:t>Ranks: what are the most relevant edges in User angle. The ones that saves more journey time. </a:t>
            </a: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Comparison Method: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sym typeface="Wingdings" panose="05000000000000000000" pitchFamily="2" charset="2"/>
              </a:rPr>
              <a:t> Kendall Correlation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13</a:t>
            </a:fld>
            <a:endParaRPr lang="fr-BE"/>
          </a:p>
        </p:txBody>
      </p:sp>
    </p:spTree>
    <p:extLst>
      <p:ext uri="{BB962C8B-B14F-4D97-AF65-F5344CB8AC3E}">
        <p14:creationId xmlns:p14="http://schemas.microsoft.com/office/powerpoint/2010/main" val="1563839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Ranking Methods:</a:t>
            </a:r>
          </a:p>
          <a:p>
            <a:endParaRPr lang="en-US" dirty="0"/>
          </a:p>
          <a:p>
            <a:pPr marL="171450" indent="-171450">
              <a:buFont typeface="Wingdings" panose="05000000000000000000" pitchFamily="2" charset="2"/>
              <a:buChar char="à"/>
            </a:pPr>
            <a:r>
              <a:rPr lang="en-US" dirty="0"/>
              <a:t>Disparity Filter (Networkx):</a:t>
            </a:r>
          </a:p>
          <a:p>
            <a:pPr marL="0" indent="0">
              <a:buFont typeface="Wingdings" panose="05000000000000000000" pitchFamily="2" charset="2"/>
              <a:buNone/>
            </a:pPr>
            <a:r>
              <a:rPr lang="en-US" dirty="0"/>
              <a:t>It filters out edges deemed not compatible with a random distribution with a certain statistical significance (alpha). </a:t>
            </a:r>
          </a:p>
          <a:p>
            <a:pPr marL="0" indent="0">
              <a:buFont typeface="Wingdings" panose="05000000000000000000" pitchFamily="2" charset="2"/>
              <a:buNone/>
            </a:pPr>
            <a:r>
              <a:rPr lang="en-US" dirty="0"/>
              <a:t>This manner its possible to encounter different levels of heterogeneities. </a:t>
            </a:r>
          </a:p>
          <a:p>
            <a:pPr marL="0" indent="0">
              <a:buFont typeface="Wingdings" panose="05000000000000000000" pitchFamily="2" charset="2"/>
              <a:buNone/>
            </a:pPr>
            <a:r>
              <a:rPr lang="en-US" dirty="0">
                <a:sym typeface="Wingdings" panose="05000000000000000000" pitchFamily="2" charset="2"/>
              </a:rPr>
              <a:t>Indicator: Efficient </a:t>
            </a:r>
            <a:r>
              <a:rPr lang="en-US" dirty="0"/>
              <a:t>Indicator (weight), weight prob. distribution, statistical relevance, node strength, node degree, </a:t>
            </a:r>
          </a:p>
          <a:p>
            <a:pPr marL="0" indent="0">
              <a:buFont typeface="Wingdings" panose="05000000000000000000" pitchFamily="2" charset="2"/>
              <a:buNone/>
            </a:pPr>
            <a:r>
              <a:rPr lang="en-US" dirty="0"/>
              <a:t>Ranks: what are the most relevant edges in Collective angle.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t>
            </a:r>
            <a:r>
              <a:rPr lang="en-US" b="0" i="0" dirty="0">
                <a:solidFill>
                  <a:srgbClr val="57606A"/>
                </a:solidFill>
                <a:effectLst/>
                <a:latin typeface="-apple-system"/>
              </a:rPr>
              <a:t>The disparity filter exploits local heterogeneity and local correlations among weights to extract the network backbone by considering the relevant edges at all the scales present in the system. The methodology preserves an edge whenever its intensity is a statistically not compatible with respect to a null hypothesis of uniform randomness for at least one of the two nodes the edge is incident to, which ensures that small nodes in terms of strength are not neglected. As result, the disparity filter reduces the number of edges in the original network significantly keeping, at the same time, almost all the weight and a large fraction of nodes. As well, this filter preserves the cut-off of the degree distribution, the form of the weight distribution, and the clustering coefficient.</a:t>
            </a:r>
            <a:endParaRPr lang="en-US" dirty="0"/>
          </a:p>
          <a:p>
            <a:pPr marL="0" indent="0">
              <a:buFont typeface="Wingdings" panose="05000000000000000000" pitchFamily="2" charset="2"/>
              <a:buNone/>
            </a:pPr>
            <a:endParaRPr lang="en-US" dirty="0"/>
          </a:p>
          <a:p>
            <a:pPr marL="171450" indent="-171450">
              <a:buFont typeface="Wingdings" panose="05000000000000000000" pitchFamily="2" charset="2"/>
              <a:buChar char="à"/>
            </a:pPr>
            <a:r>
              <a:rPr lang="en-US" dirty="0"/>
              <a:t>Shortest Path: (Neo4j):</a:t>
            </a:r>
          </a:p>
          <a:p>
            <a:pPr marL="0" indent="0">
              <a:buFont typeface="Wingdings" panose="05000000000000000000" pitchFamily="2" charset="2"/>
              <a:buNone/>
            </a:pPr>
            <a:r>
              <a:rPr lang="en-US" dirty="0"/>
              <a:t>Each edges will be ranked with the possible distress caused by its disruption. It means, the loss of time.</a:t>
            </a:r>
          </a:p>
          <a:p>
            <a:pPr marL="0" indent="0">
              <a:buFont typeface="Wingdings" panose="05000000000000000000" pitchFamily="2" charset="2"/>
              <a:buNone/>
            </a:pPr>
            <a:r>
              <a:rPr lang="en-US" dirty="0"/>
              <a:t>For that, it is necessary to take the user’s perspective. Thanks to NUMBAT dataset, it was possible to statically </a:t>
            </a:r>
          </a:p>
          <a:p>
            <a:pPr marL="0" indent="0">
              <a:buFont typeface="Wingdings" panose="05000000000000000000" pitchFamily="2" charset="2"/>
              <a:buNone/>
            </a:pPr>
            <a:r>
              <a:rPr lang="en-US" dirty="0"/>
              <a:t>recreate the of the user O/D route at each segment.</a:t>
            </a:r>
          </a:p>
          <a:p>
            <a:pPr marL="0" indent="0">
              <a:buFont typeface="Wingdings" panose="05000000000000000000" pitchFamily="2" charset="2"/>
              <a:buNone/>
            </a:pPr>
            <a:r>
              <a:rPr lang="en-US" dirty="0"/>
              <a:t>Indicator: Times (the less </a:t>
            </a:r>
            <a:r>
              <a:rPr lang="en-US" dirty="0">
                <a:sym typeface="Wingdings" panose="05000000000000000000" pitchFamily="2" charset="2"/>
              </a:rPr>
              <a:t>possible) </a:t>
            </a:r>
          </a:p>
          <a:p>
            <a:pPr marL="0" indent="0">
              <a:buFont typeface="Wingdings" panose="05000000000000000000" pitchFamily="2" charset="2"/>
              <a:buNone/>
            </a:pPr>
            <a:r>
              <a:rPr lang="en-US" dirty="0">
                <a:sym typeface="Wingdings" panose="05000000000000000000" pitchFamily="2" charset="2"/>
              </a:rPr>
              <a:t>Ranks: what are the most relevant edges in User angle. The ones that saves more journey time. </a:t>
            </a: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Comparison Method: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sym typeface="Wingdings" panose="05000000000000000000" pitchFamily="2" charset="2"/>
              </a:rPr>
              <a:t> Kendall Correlation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14</a:t>
            </a:fld>
            <a:endParaRPr lang="fr-BE"/>
          </a:p>
        </p:txBody>
      </p:sp>
    </p:spTree>
    <p:extLst>
      <p:ext uri="{BB962C8B-B14F-4D97-AF65-F5344CB8AC3E}">
        <p14:creationId xmlns:p14="http://schemas.microsoft.com/office/powerpoint/2010/main" val="2824797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Ranking Methods:</a:t>
            </a:r>
          </a:p>
          <a:p>
            <a:endParaRPr lang="en-US" dirty="0"/>
          </a:p>
          <a:p>
            <a:pPr marL="171450" indent="-171450">
              <a:buFont typeface="Wingdings" panose="05000000000000000000" pitchFamily="2" charset="2"/>
              <a:buChar char="à"/>
            </a:pPr>
            <a:r>
              <a:rPr lang="en-US" dirty="0"/>
              <a:t>Disparity Filter (Networkx):</a:t>
            </a:r>
          </a:p>
          <a:p>
            <a:pPr marL="0" indent="0">
              <a:buFont typeface="Wingdings" panose="05000000000000000000" pitchFamily="2" charset="2"/>
              <a:buNone/>
            </a:pPr>
            <a:r>
              <a:rPr lang="en-US" dirty="0"/>
              <a:t>It filters out edges deemed not compatible with a random distribution with a certain statistical significance (alpha). </a:t>
            </a:r>
          </a:p>
          <a:p>
            <a:pPr marL="0" indent="0">
              <a:buFont typeface="Wingdings" panose="05000000000000000000" pitchFamily="2" charset="2"/>
              <a:buNone/>
            </a:pPr>
            <a:r>
              <a:rPr lang="en-US" dirty="0"/>
              <a:t>This manner its possible to encounter different levels of heterogeneities. </a:t>
            </a:r>
          </a:p>
          <a:p>
            <a:pPr marL="0" indent="0">
              <a:buFont typeface="Wingdings" panose="05000000000000000000" pitchFamily="2" charset="2"/>
              <a:buNone/>
            </a:pPr>
            <a:r>
              <a:rPr lang="en-US" dirty="0">
                <a:sym typeface="Wingdings" panose="05000000000000000000" pitchFamily="2" charset="2"/>
              </a:rPr>
              <a:t>Indicator: Efficient </a:t>
            </a:r>
            <a:r>
              <a:rPr lang="en-US" dirty="0"/>
              <a:t>Indicator (weight), weight prob. distribution, statistical relevance, node strength, node degree, </a:t>
            </a:r>
          </a:p>
          <a:p>
            <a:pPr marL="0" indent="0">
              <a:buFont typeface="Wingdings" panose="05000000000000000000" pitchFamily="2" charset="2"/>
              <a:buNone/>
            </a:pPr>
            <a:r>
              <a:rPr lang="en-US" dirty="0"/>
              <a:t>Ranks: what are the most relevant edges in Collective angle.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t>
            </a:r>
            <a:r>
              <a:rPr lang="en-US" b="0" i="0" dirty="0">
                <a:solidFill>
                  <a:srgbClr val="57606A"/>
                </a:solidFill>
                <a:effectLst/>
                <a:latin typeface="-apple-system"/>
              </a:rPr>
              <a:t>The disparity filter exploits local heterogeneity and local correlations among weights to extract the network backbone by considering the relevant edges at all the scales present in the system. The methodology preserves an edge whenever its intensity is a statistically not compatible with respect to a null hypothesis of uniform randomness for at least one of the two nodes the edge is incident to, which ensures that small nodes in terms of strength are not neglected. As result, the disparity filter reduces the number of edges in the original network significantly keeping, at the same time, almost all the weight and a large fraction of nodes. As well, this filter preserves the cut-off of the degree distribution, the form of the weight distribution, and the clustering coefficient.</a:t>
            </a:r>
            <a:endParaRPr lang="en-US" dirty="0"/>
          </a:p>
          <a:p>
            <a:pPr marL="0" indent="0">
              <a:buFont typeface="Wingdings" panose="05000000000000000000" pitchFamily="2" charset="2"/>
              <a:buNone/>
            </a:pPr>
            <a:endParaRPr lang="en-US" dirty="0"/>
          </a:p>
          <a:p>
            <a:pPr marL="171450" indent="-171450">
              <a:buFont typeface="Wingdings" panose="05000000000000000000" pitchFamily="2" charset="2"/>
              <a:buChar char="à"/>
            </a:pPr>
            <a:r>
              <a:rPr lang="en-US" dirty="0"/>
              <a:t>Shortest Path: (Neo4j):</a:t>
            </a:r>
          </a:p>
          <a:p>
            <a:pPr marL="0" indent="0">
              <a:buFont typeface="Wingdings" panose="05000000000000000000" pitchFamily="2" charset="2"/>
              <a:buNone/>
            </a:pPr>
            <a:r>
              <a:rPr lang="en-US" dirty="0"/>
              <a:t>Each edges will be ranked with the possible distress caused by its disruption. It means, the loss of time.</a:t>
            </a:r>
          </a:p>
          <a:p>
            <a:pPr marL="0" indent="0">
              <a:buFont typeface="Wingdings" panose="05000000000000000000" pitchFamily="2" charset="2"/>
              <a:buNone/>
            </a:pPr>
            <a:r>
              <a:rPr lang="en-US" dirty="0"/>
              <a:t>For that, it is necessary to take the user’s perspective. Thanks to NUMBAT dataset, it was possible to statically </a:t>
            </a:r>
          </a:p>
          <a:p>
            <a:pPr marL="0" indent="0">
              <a:buFont typeface="Wingdings" panose="05000000000000000000" pitchFamily="2" charset="2"/>
              <a:buNone/>
            </a:pPr>
            <a:r>
              <a:rPr lang="en-US" dirty="0"/>
              <a:t>recreate the of the user O/D route at each segment.</a:t>
            </a:r>
          </a:p>
          <a:p>
            <a:pPr marL="0" indent="0">
              <a:buFont typeface="Wingdings" panose="05000000000000000000" pitchFamily="2" charset="2"/>
              <a:buNone/>
            </a:pPr>
            <a:r>
              <a:rPr lang="en-US" dirty="0"/>
              <a:t>Indicator: Times (the less </a:t>
            </a:r>
            <a:r>
              <a:rPr lang="en-US" dirty="0">
                <a:sym typeface="Wingdings" panose="05000000000000000000" pitchFamily="2" charset="2"/>
              </a:rPr>
              <a:t>possible) </a:t>
            </a:r>
          </a:p>
          <a:p>
            <a:pPr marL="0" indent="0">
              <a:buFont typeface="Wingdings" panose="05000000000000000000" pitchFamily="2" charset="2"/>
              <a:buNone/>
            </a:pPr>
            <a:r>
              <a:rPr lang="en-US" dirty="0">
                <a:sym typeface="Wingdings" panose="05000000000000000000" pitchFamily="2" charset="2"/>
              </a:rPr>
              <a:t>Ranks: what are the most relevant edges in User angle. The ones that saves more journey time. </a:t>
            </a: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Comparison Method: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sym typeface="Wingdings" panose="05000000000000000000" pitchFamily="2" charset="2"/>
              </a:rPr>
              <a:t> Kendall Correlation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15</a:t>
            </a:fld>
            <a:endParaRPr lang="fr-BE"/>
          </a:p>
        </p:txBody>
      </p:sp>
    </p:spTree>
    <p:extLst>
      <p:ext uri="{BB962C8B-B14F-4D97-AF65-F5344CB8AC3E}">
        <p14:creationId xmlns:p14="http://schemas.microsoft.com/office/powerpoint/2010/main" val="908241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Ranking Methods:</a:t>
            </a:r>
          </a:p>
          <a:p>
            <a:endParaRPr lang="en-US" dirty="0"/>
          </a:p>
          <a:p>
            <a:pPr marL="171450" indent="-171450">
              <a:buFont typeface="Wingdings" panose="05000000000000000000" pitchFamily="2" charset="2"/>
              <a:buChar char="à"/>
            </a:pPr>
            <a:r>
              <a:rPr lang="en-US" dirty="0"/>
              <a:t>Disparity Filter (Networkx):</a:t>
            </a:r>
          </a:p>
          <a:p>
            <a:pPr marL="0" indent="0">
              <a:buFont typeface="Wingdings" panose="05000000000000000000" pitchFamily="2" charset="2"/>
              <a:buNone/>
            </a:pPr>
            <a:r>
              <a:rPr lang="en-US" dirty="0"/>
              <a:t>It filters out edges deemed not compatible with a random distribution with a certain statistical significance (alpha). </a:t>
            </a:r>
          </a:p>
          <a:p>
            <a:pPr marL="0" indent="0">
              <a:buFont typeface="Wingdings" panose="05000000000000000000" pitchFamily="2" charset="2"/>
              <a:buNone/>
            </a:pPr>
            <a:r>
              <a:rPr lang="en-US" dirty="0"/>
              <a:t>This manner its possible to encounter different levels of heterogeneities. </a:t>
            </a:r>
          </a:p>
          <a:p>
            <a:pPr marL="0" indent="0">
              <a:buFont typeface="Wingdings" panose="05000000000000000000" pitchFamily="2" charset="2"/>
              <a:buNone/>
            </a:pPr>
            <a:r>
              <a:rPr lang="en-US" dirty="0">
                <a:sym typeface="Wingdings" panose="05000000000000000000" pitchFamily="2" charset="2"/>
              </a:rPr>
              <a:t>Indicator: Efficient </a:t>
            </a:r>
            <a:r>
              <a:rPr lang="en-US" dirty="0"/>
              <a:t>Indicator (weight), weight prob. distribution, statistical relevance, node strength, node degree, </a:t>
            </a:r>
          </a:p>
          <a:p>
            <a:pPr marL="0" indent="0">
              <a:buFont typeface="Wingdings" panose="05000000000000000000" pitchFamily="2" charset="2"/>
              <a:buNone/>
            </a:pPr>
            <a:r>
              <a:rPr lang="en-US" dirty="0"/>
              <a:t>Ranks: what are the most relevant edges in Collective angle.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t>
            </a:r>
            <a:r>
              <a:rPr lang="en-US" b="0" i="0" dirty="0">
                <a:solidFill>
                  <a:srgbClr val="57606A"/>
                </a:solidFill>
                <a:effectLst/>
                <a:latin typeface="-apple-system"/>
              </a:rPr>
              <a:t>The disparity filter exploits local heterogeneity and local correlations among weights to extract the network backbone by considering the relevant edges at all the scales present in the system. The methodology preserves an edge whenever its intensity is a statistically not compatible with respect to a null hypothesis of uniform randomness for at least one of the two nodes the edge is incident to, which ensures that small nodes in terms of strength are not neglected. As result, the disparity filter reduces the number of edges in the original network significantly keeping, at the same time, almost all the weight and a large fraction of nodes. As well, this filter preserves the cut-off of the degree distribution, the form of the weight distribution, and the clustering coefficient.</a:t>
            </a:r>
            <a:endParaRPr lang="en-US" dirty="0"/>
          </a:p>
          <a:p>
            <a:pPr marL="0" indent="0">
              <a:buFont typeface="Wingdings" panose="05000000000000000000" pitchFamily="2" charset="2"/>
              <a:buNone/>
            </a:pPr>
            <a:endParaRPr lang="en-US" dirty="0"/>
          </a:p>
          <a:p>
            <a:pPr marL="171450" indent="-171450">
              <a:buFont typeface="Wingdings" panose="05000000000000000000" pitchFamily="2" charset="2"/>
              <a:buChar char="à"/>
            </a:pPr>
            <a:r>
              <a:rPr lang="en-US" dirty="0"/>
              <a:t>Shortest Path: (Neo4j):</a:t>
            </a:r>
          </a:p>
          <a:p>
            <a:pPr marL="0" indent="0">
              <a:buFont typeface="Wingdings" panose="05000000000000000000" pitchFamily="2" charset="2"/>
              <a:buNone/>
            </a:pPr>
            <a:r>
              <a:rPr lang="en-US" dirty="0"/>
              <a:t>Each edges will be ranked with the possible distress caused by its disruption. It means, the loss of time.</a:t>
            </a:r>
          </a:p>
          <a:p>
            <a:pPr marL="0" indent="0">
              <a:buFont typeface="Wingdings" panose="05000000000000000000" pitchFamily="2" charset="2"/>
              <a:buNone/>
            </a:pPr>
            <a:r>
              <a:rPr lang="en-US" dirty="0"/>
              <a:t>For that, it is necessary to take the user’s perspective. Thanks to NUMBAT dataset, it was possible to statically </a:t>
            </a:r>
          </a:p>
          <a:p>
            <a:pPr marL="0" indent="0">
              <a:buFont typeface="Wingdings" panose="05000000000000000000" pitchFamily="2" charset="2"/>
              <a:buNone/>
            </a:pPr>
            <a:r>
              <a:rPr lang="en-US" dirty="0"/>
              <a:t>recreate the of the user O/D route at each segment.</a:t>
            </a:r>
          </a:p>
          <a:p>
            <a:pPr marL="0" indent="0">
              <a:buFont typeface="Wingdings" panose="05000000000000000000" pitchFamily="2" charset="2"/>
              <a:buNone/>
            </a:pPr>
            <a:r>
              <a:rPr lang="en-US" dirty="0"/>
              <a:t>Indicator: Times (the less </a:t>
            </a:r>
            <a:r>
              <a:rPr lang="en-US" dirty="0">
                <a:sym typeface="Wingdings" panose="05000000000000000000" pitchFamily="2" charset="2"/>
              </a:rPr>
              <a:t>possible) </a:t>
            </a:r>
          </a:p>
          <a:p>
            <a:pPr marL="0" indent="0">
              <a:buFont typeface="Wingdings" panose="05000000000000000000" pitchFamily="2" charset="2"/>
              <a:buNone/>
            </a:pPr>
            <a:r>
              <a:rPr lang="en-US" dirty="0">
                <a:sym typeface="Wingdings" panose="05000000000000000000" pitchFamily="2" charset="2"/>
              </a:rPr>
              <a:t>Ranks: what are the most relevant edges in User angle. The ones that saves more journey time. </a:t>
            </a: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Comparison Method: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sym typeface="Wingdings" panose="05000000000000000000" pitchFamily="2" charset="2"/>
              </a:rPr>
              <a:t> Kendall Correlation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16</a:t>
            </a:fld>
            <a:endParaRPr lang="fr-BE"/>
          </a:p>
        </p:txBody>
      </p:sp>
    </p:spTree>
    <p:extLst>
      <p:ext uri="{BB962C8B-B14F-4D97-AF65-F5344CB8AC3E}">
        <p14:creationId xmlns:p14="http://schemas.microsoft.com/office/powerpoint/2010/main" val="2146949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Ranking Methods:</a:t>
            </a:r>
          </a:p>
          <a:p>
            <a:endParaRPr lang="en-US" dirty="0"/>
          </a:p>
          <a:p>
            <a:pPr marL="171450" indent="-171450">
              <a:buFont typeface="Wingdings" panose="05000000000000000000" pitchFamily="2" charset="2"/>
              <a:buChar char="à"/>
            </a:pPr>
            <a:r>
              <a:rPr lang="en-US" dirty="0"/>
              <a:t>Disparity Filter (Networkx):</a:t>
            </a:r>
          </a:p>
          <a:p>
            <a:pPr marL="0" indent="0">
              <a:buFont typeface="Wingdings" panose="05000000000000000000" pitchFamily="2" charset="2"/>
              <a:buNone/>
            </a:pPr>
            <a:r>
              <a:rPr lang="en-US" dirty="0"/>
              <a:t>It filters out edges deemed not compatible with a random distribution with a certain statistical significance (alpha). </a:t>
            </a:r>
          </a:p>
          <a:p>
            <a:pPr marL="0" indent="0">
              <a:buFont typeface="Wingdings" panose="05000000000000000000" pitchFamily="2" charset="2"/>
              <a:buNone/>
            </a:pPr>
            <a:r>
              <a:rPr lang="en-US" dirty="0"/>
              <a:t>This manner its possible to encounter different levels of heterogeneities. </a:t>
            </a:r>
          </a:p>
          <a:p>
            <a:pPr marL="0" indent="0">
              <a:buFont typeface="Wingdings" panose="05000000000000000000" pitchFamily="2" charset="2"/>
              <a:buNone/>
            </a:pPr>
            <a:r>
              <a:rPr lang="en-US" dirty="0">
                <a:sym typeface="Wingdings" panose="05000000000000000000" pitchFamily="2" charset="2"/>
              </a:rPr>
              <a:t>Indicator: Efficient </a:t>
            </a:r>
            <a:r>
              <a:rPr lang="en-US" dirty="0"/>
              <a:t>Indicator (weight), weight prob. distribution, statistical relevance, node strength, node degree, </a:t>
            </a:r>
          </a:p>
          <a:p>
            <a:pPr marL="0" indent="0">
              <a:buFont typeface="Wingdings" panose="05000000000000000000" pitchFamily="2" charset="2"/>
              <a:buNone/>
            </a:pPr>
            <a:r>
              <a:rPr lang="en-US" dirty="0"/>
              <a:t>Ranks: what are the most relevant edges in Collective angle.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t>
            </a:r>
            <a:r>
              <a:rPr lang="en-US" b="0" i="0" dirty="0">
                <a:solidFill>
                  <a:srgbClr val="57606A"/>
                </a:solidFill>
                <a:effectLst/>
                <a:latin typeface="-apple-system"/>
              </a:rPr>
              <a:t>The disparity filter exploits local heterogeneity and local correlations among weights to extract the network backbone by considering the relevant edges at all the scales present in the system. The methodology preserves an edge whenever its intensity is a statistically not compatible with respect to a null hypothesis of uniform randomness for at least one of the two nodes the edge is incident to, which ensures that small nodes in terms of strength are not neglected. As result, the disparity filter reduces the number of edges in the original network significantly keeping, at the same time, almost all the weight and a large fraction of nodes. As well, this filter preserves the cut-off of the degree distribution, the form of the weight distribution, and the clustering coefficient.</a:t>
            </a:r>
            <a:endParaRPr lang="en-US" dirty="0"/>
          </a:p>
          <a:p>
            <a:pPr marL="0" indent="0">
              <a:buFont typeface="Wingdings" panose="05000000000000000000" pitchFamily="2" charset="2"/>
              <a:buNone/>
            </a:pPr>
            <a:endParaRPr lang="en-US" dirty="0"/>
          </a:p>
          <a:p>
            <a:pPr marL="171450" indent="-171450">
              <a:buFont typeface="Wingdings" panose="05000000000000000000" pitchFamily="2" charset="2"/>
              <a:buChar char="à"/>
            </a:pPr>
            <a:r>
              <a:rPr lang="en-US" dirty="0"/>
              <a:t>Shortest Path: (Neo4j):</a:t>
            </a:r>
          </a:p>
          <a:p>
            <a:pPr marL="0" indent="0">
              <a:buFont typeface="Wingdings" panose="05000000000000000000" pitchFamily="2" charset="2"/>
              <a:buNone/>
            </a:pPr>
            <a:r>
              <a:rPr lang="en-US" dirty="0"/>
              <a:t>Each edges will be ranked with the possible distress caused by its disruption. It means, the loss of time.</a:t>
            </a:r>
          </a:p>
          <a:p>
            <a:pPr marL="0" indent="0">
              <a:buFont typeface="Wingdings" panose="05000000000000000000" pitchFamily="2" charset="2"/>
              <a:buNone/>
            </a:pPr>
            <a:r>
              <a:rPr lang="en-US" dirty="0"/>
              <a:t>For that, it is necessary to take the user’s perspective. Thanks to NUMBAT dataset, it was possible to statically </a:t>
            </a:r>
          </a:p>
          <a:p>
            <a:pPr marL="0" indent="0">
              <a:buFont typeface="Wingdings" panose="05000000000000000000" pitchFamily="2" charset="2"/>
              <a:buNone/>
            </a:pPr>
            <a:r>
              <a:rPr lang="en-US" dirty="0"/>
              <a:t>recreate the of the user O/D route at each segment.</a:t>
            </a:r>
          </a:p>
          <a:p>
            <a:pPr marL="0" indent="0">
              <a:buFont typeface="Wingdings" panose="05000000000000000000" pitchFamily="2" charset="2"/>
              <a:buNone/>
            </a:pPr>
            <a:r>
              <a:rPr lang="en-US" dirty="0"/>
              <a:t>Indicator: Times (the less </a:t>
            </a:r>
            <a:r>
              <a:rPr lang="en-US" dirty="0">
                <a:sym typeface="Wingdings" panose="05000000000000000000" pitchFamily="2" charset="2"/>
              </a:rPr>
              <a:t>possible) </a:t>
            </a:r>
          </a:p>
          <a:p>
            <a:pPr marL="0" indent="0">
              <a:buFont typeface="Wingdings" panose="05000000000000000000" pitchFamily="2" charset="2"/>
              <a:buNone/>
            </a:pPr>
            <a:r>
              <a:rPr lang="en-US" dirty="0">
                <a:sym typeface="Wingdings" panose="05000000000000000000" pitchFamily="2" charset="2"/>
              </a:rPr>
              <a:t>Ranks: what are the most relevant edges in User angle. The ones that saves more journey time. </a:t>
            </a: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Comparison Method: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sym typeface="Wingdings" panose="05000000000000000000" pitchFamily="2" charset="2"/>
              </a:rPr>
              <a:t> Kendall Correlation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17</a:t>
            </a:fld>
            <a:endParaRPr lang="fr-BE"/>
          </a:p>
        </p:txBody>
      </p:sp>
    </p:spTree>
    <p:extLst>
      <p:ext uri="{BB962C8B-B14F-4D97-AF65-F5344CB8AC3E}">
        <p14:creationId xmlns:p14="http://schemas.microsoft.com/office/powerpoint/2010/main" val="2430498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r>
              <a:rPr lang="en-US" dirty="0"/>
              <a:t>Ranking Methods:</a:t>
            </a:r>
          </a:p>
          <a:p>
            <a:endParaRPr lang="en-US" dirty="0"/>
          </a:p>
          <a:p>
            <a:pPr marL="171450" indent="-171450">
              <a:buFont typeface="Wingdings" panose="05000000000000000000" pitchFamily="2" charset="2"/>
              <a:buChar char="à"/>
            </a:pPr>
            <a:r>
              <a:rPr lang="en-US" dirty="0"/>
              <a:t>Disparity Filter (Networkx):</a:t>
            </a:r>
          </a:p>
          <a:p>
            <a:pPr marL="0" indent="0">
              <a:buFont typeface="Wingdings" panose="05000000000000000000" pitchFamily="2" charset="2"/>
              <a:buNone/>
            </a:pPr>
            <a:r>
              <a:rPr lang="en-US" dirty="0"/>
              <a:t>It filters out edges deemed not compatible with a random distribution with a certain statistical significance (alpha). </a:t>
            </a:r>
          </a:p>
          <a:p>
            <a:pPr marL="0" indent="0">
              <a:buFont typeface="Wingdings" panose="05000000000000000000" pitchFamily="2" charset="2"/>
              <a:buNone/>
            </a:pPr>
            <a:r>
              <a:rPr lang="en-US" dirty="0"/>
              <a:t>This manner its possible to encounter different levels of heterogeneities. </a:t>
            </a:r>
          </a:p>
          <a:p>
            <a:pPr marL="0" indent="0">
              <a:buFont typeface="Wingdings" panose="05000000000000000000" pitchFamily="2" charset="2"/>
              <a:buNone/>
            </a:pPr>
            <a:r>
              <a:rPr lang="en-US" dirty="0">
                <a:sym typeface="Wingdings" panose="05000000000000000000" pitchFamily="2" charset="2"/>
              </a:rPr>
              <a:t>Indicator: Efficient </a:t>
            </a:r>
            <a:r>
              <a:rPr lang="en-US" dirty="0"/>
              <a:t>Indicator (weight), weight prob. distribution, statistical relevance, node strength, node degree, </a:t>
            </a:r>
          </a:p>
          <a:p>
            <a:pPr marL="0" indent="0">
              <a:buFont typeface="Wingdings" panose="05000000000000000000" pitchFamily="2" charset="2"/>
              <a:buNone/>
            </a:pPr>
            <a:r>
              <a:rPr lang="en-US" dirty="0"/>
              <a:t>Ranks: what are the most relevant edges in Collective angle.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t>
            </a:r>
            <a:r>
              <a:rPr lang="en-US" b="0" i="0" dirty="0">
                <a:solidFill>
                  <a:srgbClr val="57606A"/>
                </a:solidFill>
                <a:effectLst/>
                <a:latin typeface="-apple-system"/>
              </a:rPr>
              <a:t>The disparity filter exploits local heterogeneity and local correlations among weights to extract the network backbone by considering the relevant edges at all the scales present in the system. The methodology preserves an edge whenever its intensity is a statistically not compatible with respect to a null hypothesis of uniform randomness for at least one of the two nodes the edge is incident to, which ensures that small nodes in terms of strength are not neglected. As result, the disparity filter reduces the number of edges in the original network significantly keeping, at the same time, almost all the weight and a large fraction of nodes. As well, this filter preserves the cut-off of the degree distribution, the form of the weight distribution, and the clustering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18</a:t>
            </a:fld>
            <a:endParaRPr lang="fr-BE"/>
          </a:p>
        </p:txBody>
      </p:sp>
    </p:spTree>
    <p:extLst>
      <p:ext uri="{BB962C8B-B14F-4D97-AF65-F5344CB8AC3E}">
        <p14:creationId xmlns:p14="http://schemas.microsoft.com/office/powerpoint/2010/main" val="3916150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19</a:t>
            </a:fld>
            <a:endParaRPr lang="fr-BE"/>
          </a:p>
        </p:txBody>
      </p:sp>
    </p:spTree>
    <p:extLst>
      <p:ext uri="{BB962C8B-B14F-4D97-AF65-F5344CB8AC3E}">
        <p14:creationId xmlns:p14="http://schemas.microsoft.com/office/powerpoint/2010/main" val="4176508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pPr marL="0" indent="0">
              <a:buFont typeface="Wingdings" panose="05000000000000000000" pitchFamily="2" charset="2"/>
              <a:buNone/>
            </a:pPr>
            <a:r>
              <a:rPr lang="en-US" dirty="0"/>
              <a:t>Comparison Method: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sym typeface="Wingdings" panose="05000000000000000000" pitchFamily="2" charset="2"/>
              </a:rPr>
              <a:t> Kendall Correlation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20</a:t>
            </a:fld>
            <a:endParaRPr lang="fr-BE"/>
          </a:p>
        </p:txBody>
      </p:sp>
    </p:spTree>
    <p:extLst>
      <p:ext uri="{BB962C8B-B14F-4D97-AF65-F5344CB8AC3E}">
        <p14:creationId xmlns:p14="http://schemas.microsoft.com/office/powerpoint/2010/main" val="3727461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endParaRPr lang="en-GB" dirty="0"/>
          </a:p>
        </p:txBody>
      </p:sp>
      <p:sp>
        <p:nvSpPr>
          <p:cNvPr id="4" name="Slide Number Placeholder 3"/>
          <p:cNvSpPr>
            <a:spLocks noGrp="1"/>
          </p:cNvSpPr>
          <p:nvPr>
            <p:ph type="sldNum" sz="quarter" idx="5"/>
          </p:nvPr>
        </p:nvSpPr>
        <p:spPr/>
        <p:txBody>
          <a:bodyPr/>
          <a:lstStyle/>
          <a:p>
            <a:fld id="{3D19D2C4-D801-4083-8F60-14491AD78394}" type="slidenum">
              <a:rPr lang="fr-BE" smtClean="0"/>
              <a:t>21</a:t>
            </a:fld>
            <a:endParaRPr lang="fr-BE"/>
          </a:p>
        </p:txBody>
      </p:sp>
    </p:spTree>
    <p:extLst>
      <p:ext uri="{BB962C8B-B14F-4D97-AF65-F5344CB8AC3E}">
        <p14:creationId xmlns:p14="http://schemas.microsoft.com/office/powerpoint/2010/main" val="4055886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TODO</a:t>
            </a:r>
          </a:p>
          <a:p>
            <a:endParaRPr lang="en-GB" dirty="0"/>
          </a:p>
        </p:txBody>
      </p:sp>
      <p:sp>
        <p:nvSpPr>
          <p:cNvPr id="4" name="Slide Number Placeholder 3"/>
          <p:cNvSpPr>
            <a:spLocks noGrp="1"/>
          </p:cNvSpPr>
          <p:nvPr>
            <p:ph type="sldNum" sz="quarter" idx="5"/>
          </p:nvPr>
        </p:nvSpPr>
        <p:spPr/>
        <p:txBody>
          <a:bodyPr/>
          <a:lstStyle/>
          <a:p>
            <a:fld id="{3D19D2C4-D801-4083-8F60-14491AD78394}" type="slidenum">
              <a:rPr lang="fr-BE" smtClean="0"/>
              <a:t>22</a:t>
            </a:fld>
            <a:endParaRPr lang="fr-BE"/>
          </a:p>
        </p:txBody>
      </p:sp>
    </p:spTree>
    <p:extLst>
      <p:ext uri="{BB962C8B-B14F-4D97-AF65-F5344CB8AC3E}">
        <p14:creationId xmlns:p14="http://schemas.microsoft.com/office/powerpoint/2010/main" val="38632845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dirty="0"/>
              <a:t>TODO</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dirty="0">
                <a:sym typeface="Wingdings" panose="05000000000000000000" pitchFamily="2" charset="2"/>
              </a:rPr>
              <a:t>Explain example DLR distance (JCD Team)</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dirty="0">
                <a:sym typeface="Wingdings" panose="05000000000000000000" pitchFamily="2" charset="2"/>
              </a:rPr>
              <a:t>Show statistic: distance, speed</a:t>
            </a:r>
          </a:p>
        </p:txBody>
      </p:sp>
      <p:sp>
        <p:nvSpPr>
          <p:cNvPr id="4" name="Slide Number Placeholder 3"/>
          <p:cNvSpPr>
            <a:spLocks noGrp="1"/>
          </p:cNvSpPr>
          <p:nvPr>
            <p:ph type="sldNum" sz="quarter" idx="5"/>
          </p:nvPr>
        </p:nvSpPr>
        <p:spPr/>
        <p:txBody>
          <a:bodyPr/>
          <a:lstStyle/>
          <a:p>
            <a:fld id="{3D19D2C4-D801-4083-8F60-14491AD78394}" type="slidenum">
              <a:rPr lang="fr-BE" smtClean="0"/>
              <a:t>23</a:t>
            </a:fld>
            <a:endParaRPr lang="fr-BE"/>
          </a:p>
        </p:txBody>
      </p:sp>
    </p:spTree>
    <p:extLst>
      <p:ext uri="{BB962C8B-B14F-4D97-AF65-F5344CB8AC3E}">
        <p14:creationId xmlns:p14="http://schemas.microsoft.com/office/powerpoint/2010/main" val="31293162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dirty="0"/>
              <a:t>TODO</a:t>
            </a:r>
            <a:endParaRPr lang="en-US" dirty="0">
              <a:sym typeface="Wingdings" panose="05000000000000000000" pitchFamily="2" charset="2"/>
            </a:endParaRPr>
          </a:p>
          <a:p>
            <a:pPr marL="0" indent="0">
              <a:buFontTx/>
              <a:buNone/>
            </a:pPr>
            <a:r>
              <a:rPr lang="en-US" dirty="0">
                <a:sym typeface="Wingdings" panose="05000000000000000000" pitchFamily="2" charset="2"/>
              </a:rPr>
              <a:t>Show statistic graph: Enter/Exists in stations (</a:t>
            </a:r>
            <a:r>
              <a:rPr lang="en-US" dirty="0" err="1">
                <a:sym typeface="Wingdings" panose="05000000000000000000" pitchFamily="2" charset="2"/>
              </a:rPr>
              <a:t>Networkx</a:t>
            </a:r>
            <a:r>
              <a:rPr lang="en-US" dirty="0">
                <a:sym typeface="Wingdings" panose="05000000000000000000" pitchFamily="2" charset="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Show statistic charts: traffic, loads, </a:t>
            </a:r>
            <a:r>
              <a:rPr lang="en-US" dirty="0" err="1">
                <a:sym typeface="Wingdings" panose="05000000000000000000" pitchFamily="2" charset="2"/>
              </a:rPr>
              <a:t>traffic_distance</a:t>
            </a:r>
            <a:endParaRPr lang="en-US" dirty="0">
              <a:sym typeface="Wingdings" panose="05000000000000000000" pitchFamily="2" charset="2"/>
            </a:endParaRPr>
          </a:p>
          <a:p>
            <a:pPr marL="0" indent="0">
              <a:buFontTx/>
              <a:buNone/>
            </a:pPr>
            <a:endParaRPr lang="en-US"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3D19D2C4-D801-4083-8F60-14491AD78394}" type="slidenum">
              <a:rPr lang="fr-BE" smtClean="0"/>
              <a:t>24</a:t>
            </a:fld>
            <a:endParaRPr lang="fr-BE"/>
          </a:p>
        </p:txBody>
      </p:sp>
    </p:spTree>
    <p:extLst>
      <p:ext uri="{BB962C8B-B14F-4D97-AF65-F5344CB8AC3E}">
        <p14:creationId xmlns:p14="http://schemas.microsoft.com/office/powerpoint/2010/main" val="2407261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dirty="0"/>
              <a:t>TODO</a:t>
            </a:r>
          </a:p>
        </p:txBody>
      </p:sp>
      <p:sp>
        <p:nvSpPr>
          <p:cNvPr id="4" name="Slide Number Placeholder 3"/>
          <p:cNvSpPr>
            <a:spLocks noGrp="1"/>
          </p:cNvSpPr>
          <p:nvPr>
            <p:ph type="sldNum" sz="quarter" idx="5"/>
          </p:nvPr>
        </p:nvSpPr>
        <p:spPr/>
        <p:txBody>
          <a:bodyPr/>
          <a:lstStyle/>
          <a:p>
            <a:fld id="{3D19D2C4-D801-4083-8F60-14491AD78394}" type="slidenum">
              <a:rPr lang="fr-BE" smtClean="0"/>
              <a:t>25</a:t>
            </a:fld>
            <a:endParaRPr lang="fr-BE"/>
          </a:p>
        </p:txBody>
      </p:sp>
    </p:spTree>
    <p:extLst>
      <p:ext uri="{BB962C8B-B14F-4D97-AF65-F5344CB8AC3E}">
        <p14:creationId xmlns:p14="http://schemas.microsoft.com/office/powerpoint/2010/main" val="14135931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à"/>
            </a:pPr>
            <a:r>
              <a:rPr lang="en-US" dirty="0">
                <a:sym typeface="Wingdings" panose="05000000000000000000" pitchFamily="2" charset="2"/>
              </a:rPr>
              <a:t>Operational: Speed &amp; Frequency</a:t>
            </a:r>
          </a:p>
          <a:p>
            <a:pPr marL="171450" indent="-171450">
              <a:buFontTx/>
              <a:buChar char="-"/>
            </a:pPr>
            <a:r>
              <a:rPr lang="en-US" dirty="0">
                <a:sym typeface="Wingdings" panose="05000000000000000000" pitchFamily="2" charset="2"/>
              </a:rPr>
              <a:t>Histogram (charts) weight</a:t>
            </a:r>
          </a:p>
          <a:p>
            <a:pPr marL="171450" indent="-171450">
              <a:buFontTx/>
              <a:buChar char="-"/>
            </a:pPr>
            <a:r>
              <a:rPr lang="en-US" dirty="0">
                <a:sym typeface="Wingdings" panose="05000000000000000000" pitchFamily="2" charset="2"/>
              </a:rPr>
              <a:t>Maps (</a:t>
            </a:r>
            <a:r>
              <a:rPr lang="en-US" dirty="0" err="1">
                <a:sym typeface="Wingdings" panose="05000000000000000000" pitchFamily="2" charset="2"/>
              </a:rPr>
              <a:t>Networkx</a:t>
            </a:r>
            <a:r>
              <a:rPr lang="en-US" dirty="0">
                <a:sym typeface="Wingdings" panose="05000000000000000000" pitchFamily="2" charset="2"/>
              </a:rPr>
              <a:t>)</a:t>
            </a:r>
          </a:p>
        </p:txBody>
      </p:sp>
      <p:sp>
        <p:nvSpPr>
          <p:cNvPr id="4" name="Slide Number Placeholder 3"/>
          <p:cNvSpPr>
            <a:spLocks noGrp="1"/>
          </p:cNvSpPr>
          <p:nvPr>
            <p:ph type="sldNum" sz="quarter" idx="5"/>
          </p:nvPr>
        </p:nvSpPr>
        <p:spPr/>
        <p:txBody>
          <a:bodyPr/>
          <a:lstStyle/>
          <a:p>
            <a:fld id="{3D19D2C4-D801-4083-8F60-14491AD78394}" type="slidenum">
              <a:rPr lang="fr-BE" smtClean="0"/>
              <a:t>26</a:t>
            </a:fld>
            <a:endParaRPr lang="fr-BE"/>
          </a:p>
        </p:txBody>
      </p:sp>
    </p:spTree>
    <p:extLst>
      <p:ext uri="{BB962C8B-B14F-4D97-AF65-F5344CB8AC3E}">
        <p14:creationId xmlns:p14="http://schemas.microsoft.com/office/powerpoint/2010/main" val="2305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à"/>
            </a:pPr>
            <a:r>
              <a:rPr lang="en-US" dirty="0">
                <a:sym typeface="Wingdings" panose="05000000000000000000" pitchFamily="2" charset="2"/>
              </a:rPr>
              <a:t>Operational: Speed &amp; Frequency</a:t>
            </a:r>
          </a:p>
          <a:p>
            <a:pPr marL="171450" indent="-171450">
              <a:buFontTx/>
              <a:buChar char="-"/>
            </a:pPr>
            <a:r>
              <a:rPr lang="en-US" dirty="0">
                <a:sym typeface="Wingdings" panose="05000000000000000000" pitchFamily="2" charset="2"/>
              </a:rPr>
              <a:t>Histogram (charts) weight</a:t>
            </a:r>
          </a:p>
          <a:p>
            <a:pPr marL="171450" indent="-171450">
              <a:buFontTx/>
              <a:buChar char="-"/>
            </a:pPr>
            <a:r>
              <a:rPr lang="en-US" dirty="0">
                <a:sym typeface="Wingdings" panose="05000000000000000000" pitchFamily="2" charset="2"/>
              </a:rPr>
              <a:t>Maps (Networkx)</a:t>
            </a:r>
          </a:p>
          <a:p>
            <a:pPr marL="0" indent="0">
              <a:buFontTx/>
              <a:buNone/>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Traffic</a:t>
            </a:r>
          </a:p>
          <a:p>
            <a:pPr marL="171450" indent="-171450">
              <a:buFontTx/>
              <a:buChar char="-"/>
            </a:pPr>
            <a:r>
              <a:rPr lang="en-US" dirty="0">
                <a:sym typeface="Wingdings" panose="05000000000000000000" pitchFamily="2" charset="2"/>
              </a:rPr>
              <a:t>Enter/Exists in stations (Networkx)</a:t>
            </a:r>
          </a:p>
          <a:p>
            <a:pPr marL="171450" indent="-171450">
              <a:buFontTx/>
              <a:buChar char="-"/>
            </a:pPr>
            <a:r>
              <a:rPr lang="en-US" dirty="0">
                <a:sym typeface="Wingdings" panose="05000000000000000000" pitchFamily="2" charset="2"/>
              </a:rPr>
              <a:t>Load in segments (Networkx)</a:t>
            </a:r>
          </a:p>
          <a:p>
            <a:pPr marL="171450" indent="-171450">
              <a:buFontTx/>
              <a:buChar cha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User importance:</a:t>
            </a:r>
          </a:p>
          <a:p>
            <a:pPr marL="171450" indent="-171450">
              <a:buFontTx/>
              <a:buChar char="-"/>
            </a:pPr>
            <a:r>
              <a:rPr lang="en-US" dirty="0">
                <a:sym typeface="Wingdings" panose="05000000000000000000" pitchFamily="2" charset="2"/>
              </a:rPr>
              <a:t>Disparity ranking comparison</a:t>
            </a:r>
          </a:p>
          <a:p>
            <a:pPr marL="171450" indent="-171450">
              <a:buFontTx/>
              <a:buChar cha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Collective importance:</a:t>
            </a:r>
          </a:p>
          <a:p>
            <a:pPr marL="171450" indent="-171450">
              <a:buFontTx/>
              <a:buChar char="-"/>
            </a:pPr>
            <a:r>
              <a:rPr lang="en-US" dirty="0">
                <a:sym typeface="Wingdings" panose="05000000000000000000" pitchFamily="2" charset="2"/>
              </a:rPr>
              <a:t>Distress ranking comparison</a:t>
            </a:r>
          </a:p>
        </p:txBody>
      </p:sp>
      <p:sp>
        <p:nvSpPr>
          <p:cNvPr id="4" name="Slide Number Placeholder 3"/>
          <p:cNvSpPr>
            <a:spLocks noGrp="1"/>
          </p:cNvSpPr>
          <p:nvPr>
            <p:ph type="sldNum" sz="quarter" idx="5"/>
          </p:nvPr>
        </p:nvSpPr>
        <p:spPr/>
        <p:txBody>
          <a:bodyPr/>
          <a:lstStyle/>
          <a:p>
            <a:fld id="{3D19D2C4-D801-4083-8F60-14491AD78394}" type="slidenum">
              <a:rPr lang="fr-BE" smtClean="0"/>
              <a:t>27</a:t>
            </a:fld>
            <a:endParaRPr lang="fr-BE"/>
          </a:p>
        </p:txBody>
      </p:sp>
    </p:spTree>
    <p:extLst>
      <p:ext uri="{BB962C8B-B14F-4D97-AF65-F5344CB8AC3E}">
        <p14:creationId xmlns:p14="http://schemas.microsoft.com/office/powerpoint/2010/main" val="3774980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à"/>
            </a:pPr>
            <a:r>
              <a:rPr lang="en-US" dirty="0">
                <a:sym typeface="Wingdings" panose="05000000000000000000" pitchFamily="2" charset="2"/>
              </a:rPr>
              <a:t>Operational: Speed &amp; Frequency</a:t>
            </a:r>
          </a:p>
          <a:p>
            <a:pPr marL="171450" indent="-171450">
              <a:buFontTx/>
              <a:buChar char="-"/>
            </a:pPr>
            <a:r>
              <a:rPr lang="en-US" dirty="0">
                <a:sym typeface="Wingdings" panose="05000000000000000000" pitchFamily="2" charset="2"/>
              </a:rPr>
              <a:t>Histogram (charts) weight</a:t>
            </a:r>
          </a:p>
          <a:p>
            <a:pPr marL="171450" indent="-171450">
              <a:buFontTx/>
              <a:buChar char="-"/>
            </a:pPr>
            <a:r>
              <a:rPr lang="en-US" dirty="0">
                <a:sym typeface="Wingdings" panose="05000000000000000000" pitchFamily="2" charset="2"/>
              </a:rPr>
              <a:t>Maps (Networkx)</a:t>
            </a:r>
          </a:p>
          <a:p>
            <a:pPr marL="0" indent="0">
              <a:buFontTx/>
              <a:buNone/>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Traffic</a:t>
            </a:r>
          </a:p>
          <a:p>
            <a:pPr marL="171450" indent="-171450">
              <a:buFontTx/>
              <a:buChar char="-"/>
            </a:pPr>
            <a:r>
              <a:rPr lang="en-US" dirty="0">
                <a:sym typeface="Wingdings" panose="05000000000000000000" pitchFamily="2" charset="2"/>
              </a:rPr>
              <a:t>Enter/Exists in stations (Networkx)</a:t>
            </a:r>
          </a:p>
          <a:p>
            <a:pPr marL="171450" indent="-171450">
              <a:buFontTx/>
              <a:buChar char="-"/>
            </a:pPr>
            <a:r>
              <a:rPr lang="en-US" dirty="0">
                <a:sym typeface="Wingdings" panose="05000000000000000000" pitchFamily="2" charset="2"/>
              </a:rPr>
              <a:t>Load in segments (Networkx)</a:t>
            </a:r>
          </a:p>
          <a:p>
            <a:pPr marL="171450" indent="-171450">
              <a:buFontTx/>
              <a:buChar cha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User importance:</a:t>
            </a:r>
          </a:p>
          <a:p>
            <a:pPr marL="171450" indent="-171450">
              <a:buFontTx/>
              <a:buChar char="-"/>
            </a:pPr>
            <a:r>
              <a:rPr lang="en-US" dirty="0">
                <a:sym typeface="Wingdings" panose="05000000000000000000" pitchFamily="2" charset="2"/>
              </a:rPr>
              <a:t>Disparity ranking comparison</a:t>
            </a:r>
          </a:p>
          <a:p>
            <a:pPr marL="171450" indent="-171450">
              <a:buFontTx/>
              <a:buChar cha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Collective importance:</a:t>
            </a:r>
          </a:p>
          <a:p>
            <a:pPr marL="171450" indent="-171450">
              <a:buFontTx/>
              <a:buChar char="-"/>
            </a:pPr>
            <a:r>
              <a:rPr lang="en-US" dirty="0">
                <a:sym typeface="Wingdings" panose="05000000000000000000" pitchFamily="2" charset="2"/>
              </a:rPr>
              <a:t>Distress ranking comparison</a:t>
            </a:r>
          </a:p>
        </p:txBody>
      </p:sp>
      <p:sp>
        <p:nvSpPr>
          <p:cNvPr id="4" name="Slide Number Placeholder 3"/>
          <p:cNvSpPr>
            <a:spLocks noGrp="1"/>
          </p:cNvSpPr>
          <p:nvPr>
            <p:ph type="sldNum" sz="quarter" idx="5"/>
          </p:nvPr>
        </p:nvSpPr>
        <p:spPr/>
        <p:txBody>
          <a:bodyPr/>
          <a:lstStyle/>
          <a:p>
            <a:fld id="{3D19D2C4-D801-4083-8F60-14491AD78394}" type="slidenum">
              <a:rPr lang="fr-BE" smtClean="0"/>
              <a:t>28</a:t>
            </a:fld>
            <a:endParaRPr lang="fr-BE"/>
          </a:p>
        </p:txBody>
      </p:sp>
    </p:spTree>
    <p:extLst>
      <p:ext uri="{BB962C8B-B14F-4D97-AF65-F5344CB8AC3E}">
        <p14:creationId xmlns:p14="http://schemas.microsoft.com/office/powerpoint/2010/main" val="2039075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dirty="0">
                <a:sym typeface="Wingdings" panose="05000000000000000000" pitchFamily="2" charset="2"/>
              </a:rPr>
              <a:t>Interconnect all possible modes of transport including bikes and walks.</a:t>
            </a:r>
            <a:endParaRPr lang="en-US" dirty="0"/>
          </a:p>
          <a:p>
            <a:pPr marL="0" indent="0">
              <a:buNone/>
            </a:pPr>
            <a:endParaRPr lang="en-US" dirty="0"/>
          </a:p>
          <a:p>
            <a:pPr marL="0" indent="0">
              <a:buNone/>
            </a:pPr>
            <a:endParaRPr lang="en-US" dirty="0"/>
          </a:p>
          <a:p>
            <a:pPr marL="0" indent="0">
              <a:buNone/>
            </a:pPr>
            <a:r>
              <a:rPr lang="en-US" dirty="0"/>
              <a:t>2) Use ML models for predictions of:</a:t>
            </a:r>
          </a:p>
          <a:p>
            <a:pPr marL="228600" indent="-228600">
              <a:buAutoNum type="arabicParenR"/>
            </a:pPr>
            <a:endParaRPr lang="en-US" dirty="0"/>
          </a:p>
          <a:p>
            <a:pPr marL="171450" indent="-171450">
              <a:buFont typeface="Wingdings" panose="05000000000000000000" pitchFamily="2" charset="2"/>
              <a:buChar char="à"/>
            </a:pPr>
            <a:r>
              <a:rPr lang="en-US" dirty="0"/>
              <a:t>TRAFFIC: Passenger flow: </a:t>
            </a:r>
            <a:r>
              <a:rPr lang="en-US" b="0" i="0" dirty="0">
                <a:solidFill>
                  <a:srgbClr val="24292F"/>
                </a:solidFill>
                <a:effectLst/>
                <a:latin typeface="-apple-system"/>
              </a:rPr>
              <a:t>From network lens (keeping passenger anonymity) , use more data (daily events) to more accurately understand why traffic is generated in each segments;</a:t>
            </a:r>
          </a:p>
          <a:p>
            <a:pPr marL="171450" indent="-171450">
              <a:buFont typeface="Wingdings" panose="05000000000000000000" pitchFamily="2" charset="2"/>
              <a:buChar char="à"/>
            </a:pPr>
            <a:endParaRPr lang="en-US" b="0" i="0" dirty="0">
              <a:solidFill>
                <a:srgbClr val="24292F"/>
              </a:solidFill>
              <a:effectLst/>
              <a:latin typeface="-apple-system"/>
            </a:endParaRPr>
          </a:p>
          <a:p>
            <a:pPr marL="171450" indent="-171450">
              <a:buFont typeface="Wingdings" panose="05000000000000000000" pitchFamily="2" charset="2"/>
              <a:buChar char="à"/>
            </a:pPr>
            <a:r>
              <a:rPr lang="en-US" b="0" i="0" dirty="0">
                <a:solidFill>
                  <a:srgbClr val="24292F"/>
                </a:solidFill>
                <a:effectLst/>
                <a:latin typeface="-apple-system"/>
              </a:rPr>
              <a:t>OPEX: Predict disruptions and its impact considering forecasted passenger traffic to optimize maintenance planning.</a:t>
            </a:r>
          </a:p>
          <a:p>
            <a:pPr marL="171450" indent="-171450">
              <a:buFont typeface="Wingdings" panose="05000000000000000000" pitchFamily="2" charset="2"/>
              <a:buChar char="à"/>
            </a:pPr>
            <a:endParaRPr lang="en-US" b="0" i="0" dirty="0">
              <a:solidFill>
                <a:srgbClr val="24292F"/>
              </a:solidFill>
              <a:effectLst/>
              <a:latin typeface="-apple-system"/>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b="0" i="0" dirty="0">
                <a:solidFill>
                  <a:srgbClr val="24292F"/>
                </a:solidFill>
                <a:effectLst/>
                <a:latin typeface="-apple-system"/>
              </a:rPr>
              <a:t>Create a timetable dynamically tailored that optimize infra-structure towards the commuters needs.</a:t>
            </a:r>
          </a:p>
          <a:p>
            <a:pPr marL="171450" indent="-171450">
              <a:buFont typeface="Wingdings" panose="05000000000000000000" pitchFamily="2" charset="2"/>
              <a:buChar char="à"/>
            </a:pPr>
            <a:endParaRPr lang="en-US" b="0" i="0" dirty="0">
              <a:solidFill>
                <a:srgbClr val="24292F"/>
              </a:solidFill>
              <a:effectLst/>
              <a:latin typeface="-apple-system"/>
            </a:endParaRPr>
          </a:p>
          <a:p>
            <a:pPr marL="171450" indent="-171450">
              <a:buFont typeface="Wingdings" panose="05000000000000000000" pitchFamily="2" charset="2"/>
              <a:buChar char="à"/>
            </a:pPr>
            <a:r>
              <a:rPr lang="en-US" b="0" i="0" dirty="0">
                <a:solidFill>
                  <a:srgbClr val="24292F"/>
                </a:solidFill>
                <a:effectLst/>
                <a:latin typeface="-apple-system"/>
              </a:rPr>
              <a:t>CAPEX: More maintenance, less disruptions, less need for redundancy and more investment express lanes (study of origin and destination). </a:t>
            </a:r>
          </a:p>
          <a:p>
            <a:pPr marL="171450" indent="-171450">
              <a:buFont typeface="Wingdings" panose="05000000000000000000" pitchFamily="2" charset="2"/>
              <a:buChar char="à"/>
            </a:pPr>
            <a:endParaRPr lang="en-US" b="0" i="0" dirty="0">
              <a:solidFill>
                <a:srgbClr val="24292F"/>
              </a:solidFill>
              <a:effectLst/>
              <a:latin typeface="-apple-system"/>
            </a:endParaRPr>
          </a:p>
          <a:p>
            <a:pPr marL="171450" indent="-171450">
              <a:buFont typeface="Wingdings" panose="05000000000000000000" pitchFamily="2" charset="2"/>
              <a:buChar char="à"/>
            </a:pPr>
            <a:endParaRPr lang="en-US" b="0" i="0" dirty="0">
              <a:solidFill>
                <a:srgbClr val="24292F"/>
              </a:solidFill>
              <a:effectLst/>
              <a:latin typeface="-apple-system"/>
            </a:endParaRPr>
          </a:p>
          <a:p>
            <a:pPr marL="0" indent="0">
              <a:buFont typeface="Wingdings" panose="05000000000000000000" pitchFamily="2" charset="2"/>
              <a:buNone/>
            </a:pPr>
            <a:endParaRPr lang="en-US" b="0" i="0" dirty="0">
              <a:solidFill>
                <a:srgbClr val="24292F"/>
              </a:solidFill>
              <a:effectLst/>
              <a:latin typeface="-apple-system"/>
            </a:endParaRPr>
          </a:p>
          <a:p>
            <a:pPr marL="171450" indent="-171450">
              <a:buFont typeface="Wingdings" panose="05000000000000000000" pitchFamily="2" charset="2"/>
              <a:buChar char="à"/>
            </a:pPr>
            <a:endParaRPr lang="en-US" b="0" i="0" dirty="0">
              <a:solidFill>
                <a:srgbClr val="24292F"/>
              </a:solidFill>
              <a:effectLst/>
              <a:latin typeface="-apple-system"/>
            </a:endParaRPr>
          </a:p>
        </p:txBody>
      </p:sp>
      <p:sp>
        <p:nvSpPr>
          <p:cNvPr id="4" name="Slide Number Placeholder 3"/>
          <p:cNvSpPr>
            <a:spLocks noGrp="1"/>
          </p:cNvSpPr>
          <p:nvPr>
            <p:ph type="sldNum" sz="quarter" idx="5"/>
          </p:nvPr>
        </p:nvSpPr>
        <p:spPr/>
        <p:txBody>
          <a:bodyPr/>
          <a:lstStyle/>
          <a:p>
            <a:fld id="{3D19D2C4-D801-4083-8F60-14491AD78394}" type="slidenum">
              <a:rPr lang="fr-BE" smtClean="0"/>
              <a:t>29</a:t>
            </a:fld>
            <a:endParaRPr lang="fr-BE"/>
          </a:p>
        </p:txBody>
      </p:sp>
    </p:spTree>
    <p:extLst>
      <p:ext uri="{BB962C8B-B14F-4D97-AF65-F5344CB8AC3E}">
        <p14:creationId xmlns:p14="http://schemas.microsoft.com/office/powerpoint/2010/main" val="26188296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 efficient network = minimizes travel time and costs (vehicles, energy, emissions, price) assuring passenger “comfort” and “prompt mobility”.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It is important to mention that a more efficient network inherently requires more maintenance.</a:t>
            </a:r>
          </a:p>
          <a:p>
            <a:endParaRPr lang="en-US" dirty="0"/>
          </a:p>
          <a:p>
            <a:r>
              <a:rPr lang="en-US" dirty="0"/>
              <a:t>It is not necessary related to its size. But is related to how it was projected to assist the commuters.</a:t>
            </a:r>
          </a:p>
          <a:p>
            <a:endParaRPr lang="en-US" dirty="0"/>
          </a:p>
          <a:p>
            <a:r>
              <a:rPr lang="en-US" dirty="0"/>
              <a:t>In a network without disruption, for instance, it would be a waste invest in redundancies. More money could be destinated to reduce travels time. </a:t>
            </a:r>
          </a:p>
          <a:p>
            <a:endParaRPr lang="en-US" dirty="0"/>
          </a:p>
          <a:p>
            <a:r>
              <a:rPr lang="en-US" dirty="0"/>
              <a:t>In a real world, however, no disruptions comes with a high maintenance price. </a:t>
            </a:r>
          </a:p>
          <a:p>
            <a:endParaRPr lang="en-US" dirty="0"/>
          </a:p>
          <a:p>
            <a:r>
              <a:rPr lang="en-US" dirty="0"/>
              <a:t>The balance between effectiveness and robustness is a major question when comes down to a such important factor of the society evolvement.</a:t>
            </a:r>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D19D2C4-D801-4083-8F60-14491AD78394}" type="slidenum">
              <a:rPr lang="fr-BE" smtClean="0"/>
              <a:t>30</a:t>
            </a:fld>
            <a:endParaRPr lang="fr-BE"/>
          </a:p>
        </p:txBody>
      </p:sp>
    </p:spTree>
    <p:extLst>
      <p:ext uri="{BB962C8B-B14F-4D97-AF65-F5344CB8AC3E}">
        <p14:creationId xmlns:p14="http://schemas.microsoft.com/office/powerpoint/2010/main" val="3771545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ECEBC-6822-43CC-B3E7-B4E48374C0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BE"/>
          </a:p>
        </p:txBody>
      </p:sp>
      <p:sp>
        <p:nvSpPr>
          <p:cNvPr id="3" name="Subtitle 2">
            <a:extLst>
              <a:ext uri="{FF2B5EF4-FFF2-40B4-BE49-F238E27FC236}">
                <a16:creationId xmlns:a16="http://schemas.microsoft.com/office/drawing/2014/main" id="{701B0E94-BFA4-417E-9D48-9C5789B351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BE"/>
          </a:p>
        </p:txBody>
      </p:sp>
      <p:sp>
        <p:nvSpPr>
          <p:cNvPr id="4" name="Date Placeholder 3">
            <a:extLst>
              <a:ext uri="{FF2B5EF4-FFF2-40B4-BE49-F238E27FC236}">
                <a16:creationId xmlns:a16="http://schemas.microsoft.com/office/drawing/2014/main" id="{2D9F3264-480E-48E4-87BA-6B5DDC9C7CF0}"/>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5" name="Footer Placeholder 4">
            <a:extLst>
              <a:ext uri="{FF2B5EF4-FFF2-40B4-BE49-F238E27FC236}">
                <a16:creationId xmlns:a16="http://schemas.microsoft.com/office/drawing/2014/main" id="{AA429D20-A606-4092-A159-B9EB6B161322}"/>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18A72BCF-DBE4-4D9D-90AC-EA34C77F9D85}"/>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2350467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F6CBC-32B9-4F25-BCC6-2BE1A4CF8D61}"/>
              </a:ext>
            </a:extLst>
          </p:cNvPr>
          <p:cNvSpPr>
            <a:spLocks noGrp="1"/>
          </p:cNvSpPr>
          <p:nvPr>
            <p:ph type="title"/>
          </p:nvPr>
        </p:nvSpPr>
        <p:spPr/>
        <p:txBody>
          <a:bodyPr/>
          <a:lstStyle/>
          <a:p>
            <a:r>
              <a:rPr lang="en-US"/>
              <a:t>Click to edit Master title style</a:t>
            </a:r>
            <a:endParaRPr lang="fr-BE"/>
          </a:p>
        </p:txBody>
      </p:sp>
      <p:sp>
        <p:nvSpPr>
          <p:cNvPr id="3" name="Content Placeholder 2">
            <a:extLst>
              <a:ext uri="{FF2B5EF4-FFF2-40B4-BE49-F238E27FC236}">
                <a16:creationId xmlns:a16="http://schemas.microsoft.com/office/drawing/2014/main" id="{76FA0F66-0F32-43E0-AB28-532A76C22D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D1F9728A-DB03-4550-A70A-7226CCECE8D4}"/>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5" name="Footer Placeholder 4">
            <a:extLst>
              <a:ext uri="{FF2B5EF4-FFF2-40B4-BE49-F238E27FC236}">
                <a16:creationId xmlns:a16="http://schemas.microsoft.com/office/drawing/2014/main" id="{7CBF0E85-C252-4695-8BCA-3714CBBE15FE}"/>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AA7C57F2-1A7F-4F9C-A52E-84BCF4773170}"/>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2323544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66B44-47D1-421B-A285-10CDD5CFD7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BE"/>
          </a:p>
        </p:txBody>
      </p:sp>
      <p:sp>
        <p:nvSpPr>
          <p:cNvPr id="3" name="Text Placeholder 2">
            <a:extLst>
              <a:ext uri="{FF2B5EF4-FFF2-40B4-BE49-F238E27FC236}">
                <a16:creationId xmlns:a16="http://schemas.microsoft.com/office/drawing/2014/main" id="{BE4D6E71-262D-44A8-9D47-734A185177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46D2EB-6268-4504-B955-E1107CB8A2E7}"/>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5" name="Footer Placeholder 4">
            <a:extLst>
              <a:ext uri="{FF2B5EF4-FFF2-40B4-BE49-F238E27FC236}">
                <a16:creationId xmlns:a16="http://schemas.microsoft.com/office/drawing/2014/main" id="{4D412B57-6FDC-4C45-B89C-74BD4DCF7122}"/>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8C654AC1-CF07-43C2-9C56-73B1EE106E4F}"/>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19395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56F1D-FDEE-49CC-9649-1EC8541DFD24}"/>
              </a:ext>
            </a:extLst>
          </p:cNvPr>
          <p:cNvSpPr>
            <a:spLocks noGrp="1"/>
          </p:cNvSpPr>
          <p:nvPr>
            <p:ph type="title"/>
          </p:nvPr>
        </p:nvSpPr>
        <p:spPr/>
        <p:txBody>
          <a:bodyPr/>
          <a:lstStyle/>
          <a:p>
            <a:r>
              <a:rPr lang="en-US"/>
              <a:t>Click to edit Master title style</a:t>
            </a:r>
            <a:endParaRPr lang="fr-BE"/>
          </a:p>
        </p:txBody>
      </p:sp>
      <p:sp>
        <p:nvSpPr>
          <p:cNvPr id="3" name="Content Placeholder 2">
            <a:extLst>
              <a:ext uri="{FF2B5EF4-FFF2-40B4-BE49-F238E27FC236}">
                <a16:creationId xmlns:a16="http://schemas.microsoft.com/office/drawing/2014/main" id="{9A2F8964-1CDF-453D-A3D5-72EAD1ED3E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Content Placeholder 3">
            <a:extLst>
              <a:ext uri="{FF2B5EF4-FFF2-40B4-BE49-F238E27FC236}">
                <a16:creationId xmlns:a16="http://schemas.microsoft.com/office/drawing/2014/main" id="{CBBA96D6-467B-4BB4-9F6B-D7FC4C4785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5" name="Date Placeholder 4">
            <a:extLst>
              <a:ext uri="{FF2B5EF4-FFF2-40B4-BE49-F238E27FC236}">
                <a16:creationId xmlns:a16="http://schemas.microsoft.com/office/drawing/2014/main" id="{DBA459E9-F111-44B9-B540-E51102553DC2}"/>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6" name="Footer Placeholder 5">
            <a:extLst>
              <a:ext uri="{FF2B5EF4-FFF2-40B4-BE49-F238E27FC236}">
                <a16:creationId xmlns:a16="http://schemas.microsoft.com/office/drawing/2014/main" id="{35715E93-6251-43A9-A072-723169D29158}"/>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E7A56D68-4D5F-41D7-B587-4357CF2732A9}"/>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886391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CE865-0E9B-4BD7-93CB-74BDFCB1B211}"/>
              </a:ext>
            </a:extLst>
          </p:cNvPr>
          <p:cNvSpPr>
            <a:spLocks noGrp="1"/>
          </p:cNvSpPr>
          <p:nvPr>
            <p:ph type="title"/>
          </p:nvPr>
        </p:nvSpPr>
        <p:spPr>
          <a:xfrm>
            <a:off x="839788" y="365125"/>
            <a:ext cx="10515600" cy="1325563"/>
          </a:xfrm>
        </p:spPr>
        <p:txBody>
          <a:bodyPr/>
          <a:lstStyle/>
          <a:p>
            <a:r>
              <a:rPr lang="en-US"/>
              <a:t>Click to edit Master title style</a:t>
            </a:r>
            <a:endParaRPr lang="fr-BE"/>
          </a:p>
        </p:txBody>
      </p:sp>
      <p:sp>
        <p:nvSpPr>
          <p:cNvPr id="3" name="Text Placeholder 2">
            <a:extLst>
              <a:ext uri="{FF2B5EF4-FFF2-40B4-BE49-F238E27FC236}">
                <a16:creationId xmlns:a16="http://schemas.microsoft.com/office/drawing/2014/main" id="{635B26AF-845D-41DF-A5C3-C2869C1710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F08E21-9D92-432A-8503-B6D7E38839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5" name="Text Placeholder 4">
            <a:extLst>
              <a:ext uri="{FF2B5EF4-FFF2-40B4-BE49-F238E27FC236}">
                <a16:creationId xmlns:a16="http://schemas.microsoft.com/office/drawing/2014/main" id="{99077FA7-6EC3-43BA-A493-9726CFFF1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672CBD-10CF-4529-B017-140794932B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7" name="Date Placeholder 6">
            <a:extLst>
              <a:ext uri="{FF2B5EF4-FFF2-40B4-BE49-F238E27FC236}">
                <a16:creationId xmlns:a16="http://schemas.microsoft.com/office/drawing/2014/main" id="{18B319EB-E201-4880-ACA4-B5CCA9751808}"/>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8" name="Footer Placeholder 7">
            <a:extLst>
              <a:ext uri="{FF2B5EF4-FFF2-40B4-BE49-F238E27FC236}">
                <a16:creationId xmlns:a16="http://schemas.microsoft.com/office/drawing/2014/main" id="{FE9931CC-DE3B-41AB-8C03-E4BE6F1E8396}"/>
              </a:ext>
            </a:extLst>
          </p:cNvPr>
          <p:cNvSpPr>
            <a:spLocks noGrp="1"/>
          </p:cNvSpPr>
          <p:nvPr>
            <p:ph type="ftr" sz="quarter" idx="11"/>
          </p:nvPr>
        </p:nvSpPr>
        <p:spPr/>
        <p:txBody>
          <a:bodyPr/>
          <a:lstStyle/>
          <a:p>
            <a:endParaRPr lang="fr-BE"/>
          </a:p>
        </p:txBody>
      </p:sp>
      <p:sp>
        <p:nvSpPr>
          <p:cNvPr id="9" name="Slide Number Placeholder 8">
            <a:extLst>
              <a:ext uri="{FF2B5EF4-FFF2-40B4-BE49-F238E27FC236}">
                <a16:creationId xmlns:a16="http://schemas.microsoft.com/office/drawing/2014/main" id="{EDA0596D-2E57-4CBA-8209-CFDC00CD996D}"/>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2420344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3D47-DD3A-4EE9-9ADA-45D828EBB6F4}"/>
              </a:ext>
            </a:extLst>
          </p:cNvPr>
          <p:cNvSpPr>
            <a:spLocks noGrp="1"/>
          </p:cNvSpPr>
          <p:nvPr>
            <p:ph type="title"/>
          </p:nvPr>
        </p:nvSpPr>
        <p:spPr/>
        <p:txBody>
          <a:bodyPr/>
          <a:lstStyle/>
          <a:p>
            <a:r>
              <a:rPr lang="en-US"/>
              <a:t>Click to edit Master title style</a:t>
            </a:r>
            <a:endParaRPr lang="fr-BE"/>
          </a:p>
        </p:txBody>
      </p:sp>
      <p:sp>
        <p:nvSpPr>
          <p:cNvPr id="3" name="Date Placeholder 2">
            <a:extLst>
              <a:ext uri="{FF2B5EF4-FFF2-40B4-BE49-F238E27FC236}">
                <a16:creationId xmlns:a16="http://schemas.microsoft.com/office/drawing/2014/main" id="{15315C82-1180-45A7-A57E-443378A8FA14}"/>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4" name="Footer Placeholder 3">
            <a:extLst>
              <a:ext uri="{FF2B5EF4-FFF2-40B4-BE49-F238E27FC236}">
                <a16:creationId xmlns:a16="http://schemas.microsoft.com/office/drawing/2014/main" id="{9A8D7215-EB1A-4141-9434-7D7770720485}"/>
              </a:ext>
            </a:extLst>
          </p:cNvPr>
          <p:cNvSpPr>
            <a:spLocks noGrp="1"/>
          </p:cNvSpPr>
          <p:nvPr>
            <p:ph type="ftr" sz="quarter" idx="11"/>
          </p:nvPr>
        </p:nvSpPr>
        <p:spPr/>
        <p:txBody>
          <a:bodyPr/>
          <a:lstStyle/>
          <a:p>
            <a:endParaRPr lang="fr-BE"/>
          </a:p>
        </p:txBody>
      </p:sp>
      <p:sp>
        <p:nvSpPr>
          <p:cNvPr id="5" name="Slide Number Placeholder 4">
            <a:extLst>
              <a:ext uri="{FF2B5EF4-FFF2-40B4-BE49-F238E27FC236}">
                <a16:creationId xmlns:a16="http://schemas.microsoft.com/office/drawing/2014/main" id="{AB4149F7-EF9A-44CA-BFDC-C173E1CF4F32}"/>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56321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9AFD3D-9EDC-4CB9-9EFE-F750CE23FBC0}"/>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3" name="Footer Placeholder 2">
            <a:extLst>
              <a:ext uri="{FF2B5EF4-FFF2-40B4-BE49-F238E27FC236}">
                <a16:creationId xmlns:a16="http://schemas.microsoft.com/office/drawing/2014/main" id="{5B96DF5F-7BE0-4B90-AA6E-66ED9EDB8784}"/>
              </a:ext>
            </a:extLst>
          </p:cNvPr>
          <p:cNvSpPr>
            <a:spLocks noGrp="1"/>
          </p:cNvSpPr>
          <p:nvPr>
            <p:ph type="ftr" sz="quarter" idx="11"/>
          </p:nvPr>
        </p:nvSpPr>
        <p:spPr/>
        <p:txBody>
          <a:bodyPr/>
          <a:lstStyle/>
          <a:p>
            <a:endParaRPr lang="fr-BE"/>
          </a:p>
        </p:txBody>
      </p:sp>
      <p:sp>
        <p:nvSpPr>
          <p:cNvPr id="4" name="Slide Number Placeholder 3">
            <a:extLst>
              <a:ext uri="{FF2B5EF4-FFF2-40B4-BE49-F238E27FC236}">
                <a16:creationId xmlns:a16="http://schemas.microsoft.com/office/drawing/2014/main" id="{3AAD4907-454B-424C-B760-9E0DD4250830}"/>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068607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B057-8C6F-4F94-9906-72286A8ECF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BE"/>
          </a:p>
        </p:txBody>
      </p:sp>
      <p:sp>
        <p:nvSpPr>
          <p:cNvPr id="3" name="Content Placeholder 2">
            <a:extLst>
              <a:ext uri="{FF2B5EF4-FFF2-40B4-BE49-F238E27FC236}">
                <a16:creationId xmlns:a16="http://schemas.microsoft.com/office/drawing/2014/main" id="{2BABF075-1F89-4A5E-AFC0-C9038D8EBA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Text Placeholder 3">
            <a:extLst>
              <a:ext uri="{FF2B5EF4-FFF2-40B4-BE49-F238E27FC236}">
                <a16:creationId xmlns:a16="http://schemas.microsoft.com/office/drawing/2014/main" id="{6AA8B813-B4F2-4A7D-8618-1334B75E1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9BD64E-FDF2-45B2-8A6A-912C358D69A6}"/>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6" name="Footer Placeholder 5">
            <a:extLst>
              <a:ext uri="{FF2B5EF4-FFF2-40B4-BE49-F238E27FC236}">
                <a16:creationId xmlns:a16="http://schemas.microsoft.com/office/drawing/2014/main" id="{DB812EB1-D07E-4678-A41B-179CC38C5521}"/>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5792DA6F-C11E-4669-8A81-1383E7B96214}"/>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365030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BB263-67A4-4918-B4AA-382270DF1F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BE"/>
          </a:p>
        </p:txBody>
      </p:sp>
      <p:sp>
        <p:nvSpPr>
          <p:cNvPr id="3" name="Picture Placeholder 2">
            <a:extLst>
              <a:ext uri="{FF2B5EF4-FFF2-40B4-BE49-F238E27FC236}">
                <a16:creationId xmlns:a16="http://schemas.microsoft.com/office/drawing/2014/main" id="{9A620386-BD39-4913-8698-497AAB679A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Text Placeholder 3">
            <a:extLst>
              <a:ext uri="{FF2B5EF4-FFF2-40B4-BE49-F238E27FC236}">
                <a16:creationId xmlns:a16="http://schemas.microsoft.com/office/drawing/2014/main" id="{2DCE0B22-1CFC-423E-8EF6-3987F02D55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2FD9EE-CB69-447F-85BF-86E204B90424}"/>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6" name="Footer Placeholder 5">
            <a:extLst>
              <a:ext uri="{FF2B5EF4-FFF2-40B4-BE49-F238E27FC236}">
                <a16:creationId xmlns:a16="http://schemas.microsoft.com/office/drawing/2014/main" id="{C11EF27E-B074-4BA7-A560-D41C19C0994E}"/>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5E3778D5-1618-4621-A70D-A613FCE3B2AC}"/>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2972186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60B8-54F0-45C3-81D7-0AF50F74385B}"/>
              </a:ext>
            </a:extLst>
          </p:cNvPr>
          <p:cNvSpPr>
            <a:spLocks noGrp="1"/>
          </p:cNvSpPr>
          <p:nvPr>
            <p:ph type="title"/>
          </p:nvPr>
        </p:nvSpPr>
        <p:spPr/>
        <p:txBody>
          <a:bodyPr/>
          <a:lstStyle/>
          <a:p>
            <a:r>
              <a:rPr lang="en-US"/>
              <a:t>Click to edit Master title style</a:t>
            </a:r>
            <a:endParaRPr lang="fr-BE"/>
          </a:p>
        </p:txBody>
      </p:sp>
      <p:sp>
        <p:nvSpPr>
          <p:cNvPr id="3" name="Vertical Text Placeholder 2">
            <a:extLst>
              <a:ext uri="{FF2B5EF4-FFF2-40B4-BE49-F238E27FC236}">
                <a16:creationId xmlns:a16="http://schemas.microsoft.com/office/drawing/2014/main" id="{DE1D7180-89B7-4F46-AA22-B22CA23A45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99B1174B-6DEC-4A0D-B038-BA6C6990504E}"/>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5" name="Footer Placeholder 4">
            <a:extLst>
              <a:ext uri="{FF2B5EF4-FFF2-40B4-BE49-F238E27FC236}">
                <a16:creationId xmlns:a16="http://schemas.microsoft.com/office/drawing/2014/main" id="{50912617-E6CA-406E-BD3E-FE7E91B4E166}"/>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F2448E37-632D-4929-B2C8-144F50A565AE}"/>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1342034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AB27C6-E2FE-4EDB-981D-FA7C0485FD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BE"/>
          </a:p>
        </p:txBody>
      </p:sp>
      <p:sp>
        <p:nvSpPr>
          <p:cNvPr id="3" name="Vertical Text Placeholder 2">
            <a:extLst>
              <a:ext uri="{FF2B5EF4-FFF2-40B4-BE49-F238E27FC236}">
                <a16:creationId xmlns:a16="http://schemas.microsoft.com/office/drawing/2014/main" id="{41C95CD1-8185-48C3-AD8F-BB09EF0783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CABB7C67-59C9-46D9-8B98-A6BAC6C34535}"/>
              </a:ext>
            </a:extLst>
          </p:cNvPr>
          <p:cNvSpPr>
            <a:spLocks noGrp="1"/>
          </p:cNvSpPr>
          <p:nvPr>
            <p:ph type="dt" sz="half" idx="10"/>
          </p:nvPr>
        </p:nvSpPr>
        <p:spPr/>
        <p:txBody>
          <a:bodyPr/>
          <a:lstStyle/>
          <a:p>
            <a:fld id="{CCC07DD4-E8D6-4581-B1F4-04F48CF9E11E}" type="datetimeFigureOut">
              <a:rPr lang="fr-BE" smtClean="0"/>
              <a:t>02-11-23</a:t>
            </a:fld>
            <a:endParaRPr lang="fr-BE"/>
          </a:p>
        </p:txBody>
      </p:sp>
      <p:sp>
        <p:nvSpPr>
          <p:cNvPr id="5" name="Footer Placeholder 4">
            <a:extLst>
              <a:ext uri="{FF2B5EF4-FFF2-40B4-BE49-F238E27FC236}">
                <a16:creationId xmlns:a16="http://schemas.microsoft.com/office/drawing/2014/main" id="{90C73B64-9999-45C2-8627-DEC051A1B6A2}"/>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A1E0CD39-3E6C-4BD6-92B0-F2B95BF2A613}"/>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1509845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1181A5-AADA-4F9B-A202-223D12900F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BE"/>
          </a:p>
        </p:txBody>
      </p:sp>
      <p:sp>
        <p:nvSpPr>
          <p:cNvPr id="3" name="Text Placeholder 2">
            <a:extLst>
              <a:ext uri="{FF2B5EF4-FFF2-40B4-BE49-F238E27FC236}">
                <a16:creationId xmlns:a16="http://schemas.microsoft.com/office/drawing/2014/main" id="{17DC3F68-7827-4A94-BE0C-CD3ABB2D22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EE9F608D-8A2B-4743-A7BE-31E885C23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C07DD4-E8D6-4581-B1F4-04F48CF9E11E}" type="datetimeFigureOut">
              <a:rPr lang="fr-BE" smtClean="0"/>
              <a:t>02-11-23</a:t>
            </a:fld>
            <a:endParaRPr lang="fr-BE"/>
          </a:p>
        </p:txBody>
      </p:sp>
      <p:sp>
        <p:nvSpPr>
          <p:cNvPr id="5" name="Footer Placeholder 4">
            <a:extLst>
              <a:ext uri="{FF2B5EF4-FFF2-40B4-BE49-F238E27FC236}">
                <a16:creationId xmlns:a16="http://schemas.microsoft.com/office/drawing/2014/main" id="{6F42D0B9-028F-4797-AAD6-02F10B03B2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Slide Number Placeholder 5">
            <a:extLst>
              <a:ext uri="{FF2B5EF4-FFF2-40B4-BE49-F238E27FC236}">
                <a16:creationId xmlns:a16="http://schemas.microsoft.com/office/drawing/2014/main" id="{487D5E53-D1DE-4CBF-99F9-C2A175ABE4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FEE12D-3DDC-4D48-BF49-68654ED308D1}" type="slidenum">
              <a:rPr lang="fr-BE" smtClean="0"/>
              <a:t>‹#›</a:t>
            </a:fld>
            <a:endParaRPr lang="fr-BE"/>
          </a:p>
        </p:txBody>
      </p:sp>
    </p:spTree>
    <p:extLst>
      <p:ext uri="{BB962C8B-B14F-4D97-AF65-F5344CB8AC3E}">
        <p14:creationId xmlns:p14="http://schemas.microsoft.com/office/powerpoint/2010/main" val="4170244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m8Mc-38C88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www.youtube.com/watch?v=m8Mc-38C88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www.youtube.com/watch?v=m8Mc-38C88g"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pdf/0904.2389.pdf"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hyperlink" Target="https://arxiv.org/pdf/0904.2389.pdf"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Kendall_rank_correlation_coefficient#:~:text=The%20Kendall%20rank%20coefficient%20is,of%20(X%2CY)."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8717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D1F5D-346E-488D-89B3-51FC7FC253EC}"/>
              </a:ext>
            </a:extLst>
          </p:cNvPr>
          <p:cNvSpPr>
            <a:spLocks noGrp="1"/>
          </p:cNvSpPr>
          <p:nvPr>
            <p:ph type="title"/>
          </p:nvPr>
        </p:nvSpPr>
        <p:spPr>
          <a:xfrm>
            <a:off x="838200" y="212725"/>
            <a:ext cx="10515600" cy="1325563"/>
          </a:xfrm>
        </p:spPr>
        <p:txBody>
          <a:bodyPr/>
          <a:lstStyle/>
          <a:p>
            <a:r>
              <a:rPr lang="en-US" dirty="0"/>
              <a:t>Chp.1 - Introduction (What is about)</a:t>
            </a:r>
            <a:endParaRPr lang="fr-BE" dirty="0"/>
          </a:p>
        </p:txBody>
      </p:sp>
      <p:pic>
        <p:nvPicPr>
          <p:cNvPr id="5" name="Picture 4">
            <a:extLst>
              <a:ext uri="{FF2B5EF4-FFF2-40B4-BE49-F238E27FC236}">
                <a16:creationId xmlns:a16="http://schemas.microsoft.com/office/drawing/2014/main" id="{D79E8237-720F-47FC-B8BA-D5E984C60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30" y="3211162"/>
            <a:ext cx="2381250" cy="1790700"/>
          </a:xfrm>
          <a:prstGeom prst="rect">
            <a:avLst/>
          </a:prstGeom>
        </p:spPr>
      </p:pic>
      <p:pic>
        <p:nvPicPr>
          <p:cNvPr id="9" name="Picture 8">
            <a:extLst>
              <a:ext uri="{FF2B5EF4-FFF2-40B4-BE49-F238E27FC236}">
                <a16:creationId xmlns:a16="http://schemas.microsoft.com/office/drawing/2014/main" id="{1F6D955F-055B-40B9-A23B-4CE14010FE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4532" y="3185254"/>
            <a:ext cx="2682695" cy="1790699"/>
          </a:xfrm>
          <a:prstGeom prst="rect">
            <a:avLst/>
          </a:prstGeom>
        </p:spPr>
      </p:pic>
      <p:pic>
        <p:nvPicPr>
          <p:cNvPr id="11" name="Picture 10">
            <a:extLst>
              <a:ext uri="{FF2B5EF4-FFF2-40B4-BE49-F238E27FC236}">
                <a16:creationId xmlns:a16="http://schemas.microsoft.com/office/drawing/2014/main" id="{186BA74A-4B85-41C5-B16E-44B3A93EEE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54361" y="5041390"/>
            <a:ext cx="3274249" cy="1816610"/>
          </a:xfrm>
          <a:prstGeom prst="rect">
            <a:avLst/>
          </a:prstGeom>
        </p:spPr>
      </p:pic>
      <p:pic>
        <p:nvPicPr>
          <p:cNvPr id="13" name="Picture 12">
            <a:extLst>
              <a:ext uri="{FF2B5EF4-FFF2-40B4-BE49-F238E27FC236}">
                <a16:creationId xmlns:a16="http://schemas.microsoft.com/office/drawing/2014/main" id="{ABE9E16D-AF5D-4E1C-9336-175D30A85A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48430" y="3185254"/>
            <a:ext cx="3012099" cy="1790698"/>
          </a:xfrm>
          <a:prstGeom prst="rect">
            <a:avLst/>
          </a:prstGeom>
        </p:spPr>
      </p:pic>
      <p:pic>
        <p:nvPicPr>
          <p:cNvPr id="15" name="Picture 14">
            <a:extLst>
              <a:ext uri="{FF2B5EF4-FFF2-40B4-BE49-F238E27FC236}">
                <a16:creationId xmlns:a16="http://schemas.microsoft.com/office/drawing/2014/main" id="{ABCFE079-B507-47A4-9A35-1571C935C0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80596" y="1243150"/>
            <a:ext cx="3283855" cy="1838959"/>
          </a:xfrm>
          <a:prstGeom prst="rect">
            <a:avLst/>
          </a:prstGeom>
        </p:spPr>
      </p:pic>
      <p:pic>
        <p:nvPicPr>
          <p:cNvPr id="17" name="Picture 16">
            <a:extLst>
              <a:ext uri="{FF2B5EF4-FFF2-40B4-BE49-F238E27FC236}">
                <a16:creationId xmlns:a16="http://schemas.microsoft.com/office/drawing/2014/main" id="{1797B6FC-8B75-454D-BD25-9D4CC750A89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43520" y="1254947"/>
            <a:ext cx="2758440" cy="1838960"/>
          </a:xfrm>
          <a:prstGeom prst="rect">
            <a:avLst/>
          </a:prstGeom>
        </p:spPr>
      </p:pic>
      <p:pic>
        <p:nvPicPr>
          <p:cNvPr id="19" name="Picture 18">
            <a:extLst>
              <a:ext uri="{FF2B5EF4-FFF2-40B4-BE49-F238E27FC236}">
                <a16:creationId xmlns:a16="http://schemas.microsoft.com/office/drawing/2014/main" id="{6D6C8B04-399B-4771-8CF0-BEAE592D056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64451" y="5050572"/>
            <a:ext cx="3227549" cy="1807428"/>
          </a:xfrm>
          <a:prstGeom prst="rect">
            <a:avLst/>
          </a:prstGeom>
        </p:spPr>
      </p:pic>
      <p:pic>
        <p:nvPicPr>
          <p:cNvPr id="21" name="Picture 20">
            <a:extLst>
              <a:ext uri="{FF2B5EF4-FFF2-40B4-BE49-F238E27FC236}">
                <a16:creationId xmlns:a16="http://schemas.microsoft.com/office/drawing/2014/main" id="{3D19E14D-C409-4A2F-A1D5-313672754AF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8043" y="5067300"/>
            <a:ext cx="5399864" cy="1790700"/>
          </a:xfrm>
          <a:prstGeom prst="rect">
            <a:avLst/>
          </a:prstGeom>
        </p:spPr>
      </p:pic>
    </p:spTree>
    <p:extLst>
      <p:ext uri="{BB962C8B-B14F-4D97-AF65-F5344CB8AC3E}">
        <p14:creationId xmlns:p14="http://schemas.microsoft.com/office/powerpoint/2010/main" val="561393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82C05-AD0C-49AA-9058-D1A254CA8A30}"/>
              </a:ext>
            </a:extLst>
          </p:cNvPr>
          <p:cNvSpPr>
            <a:spLocks noGrp="1"/>
          </p:cNvSpPr>
          <p:nvPr>
            <p:ph type="title"/>
          </p:nvPr>
        </p:nvSpPr>
        <p:spPr/>
        <p:txBody>
          <a:bodyPr/>
          <a:lstStyle/>
          <a:p>
            <a:r>
              <a:rPr lang="en-US" dirty="0"/>
              <a:t>Chp.1 – The problem</a:t>
            </a:r>
            <a:endParaRPr lang="fr-BE" dirty="0"/>
          </a:p>
        </p:txBody>
      </p:sp>
      <p:pic>
        <p:nvPicPr>
          <p:cNvPr id="4" name="Picture 3">
            <a:extLst>
              <a:ext uri="{FF2B5EF4-FFF2-40B4-BE49-F238E27FC236}">
                <a16:creationId xmlns:a16="http://schemas.microsoft.com/office/drawing/2014/main" id="{1AE98173-B142-469D-9850-A1630A32E5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4504" y="124164"/>
            <a:ext cx="4330645" cy="3062671"/>
          </a:xfrm>
          <a:prstGeom prst="rect">
            <a:avLst/>
          </a:prstGeom>
        </p:spPr>
      </p:pic>
      <p:pic>
        <p:nvPicPr>
          <p:cNvPr id="7" name="Picture 6">
            <a:extLst>
              <a:ext uri="{FF2B5EF4-FFF2-40B4-BE49-F238E27FC236}">
                <a16:creationId xmlns:a16="http://schemas.microsoft.com/office/drawing/2014/main" id="{7EE4B6D3-4AEC-4CE6-B312-98C41721FF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9784" y="5002962"/>
            <a:ext cx="3425365" cy="1755155"/>
          </a:xfrm>
          <a:prstGeom prst="rect">
            <a:avLst/>
          </a:prstGeom>
        </p:spPr>
      </p:pic>
      <p:pic>
        <p:nvPicPr>
          <p:cNvPr id="9" name="Picture 8">
            <a:extLst>
              <a:ext uri="{FF2B5EF4-FFF2-40B4-BE49-F238E27FC236}">
                <a16:creationId xmlns:a16="http://schemas.microsoft.com/office/drawing/2014/main" id="{FCACB4E5-3B2F-46DE-AB8E-3FB584F7C2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0287" y="3293288"/>
            <a:ext cx="2384862" cy="1694508"/>
          </a:xfrm>
          <a:prstGeom prst="rect">
            <a:avLst/>
          </a:prstGeom>
        </p:spPr>
      </p:pic>
      <p:sp>
        <p:nvSpPr>
          <p:cNvPr id="10" name="TextBox 9">
            <a:extLst>
              <a:ext uri="{FF2B5EF4-FFF2-40B4-BE49-F238E27FC236}">
                <a16:creationId xmlns:a16="http://schemas.microsoft.com/office/drawing/2014/main" id="{120855DF-EDC0-4B74-BFD9-641E779ADCF3}"/>
              </a:ext>
            </a:extLst>
          </p:cNvPr>
          <p:cNvSpPr txBox="1"/>
          <p:nvPr/>
        </p:nvSpPr>
        <p:spPr>
          <a:xfrm>
            <a:off x="596348" y="1616953"/>
            <a:ext cx="6380922" cy="3108543"/>
          </a:xfrm>
          <a:prstGeom prst="rect">
            <a:avLst/>
          </a:prstGeom>
          <a:noFill/>
        </p:spPr>
        <p:txBody>
          <a:bodyPr wrap="square" rtlCol="0">
            <a:spAutoFit/>
          </a:bodyPr>
          <a:lstStyle/>
          <a:p>
            <a:r>
              <a:rPr lang="en-US" sz="2800" dirty="0"/>
              <a:t>Is it possible to have a Systems with plannings (timetable and expansions) dynamically tailored to passenger's need?</a:t>
            </a:r>
          </a:p>
          <a:p>
            <a:endParaRPr lang="fr-BE" sz="2800" dirty="0"/>
          </a:p>
          <a:p>
            <a:endParaRPr lang="fr-BE" sz="2800" dirty="0"/>
          </a:p>
          <a:p>
            <a:endParaRPr lang="fr-BE" sz="2800" dirty="0"/>
          </a:p>
          <a:p>
            <a:endParaRPr lang="fr-BE" sz="2800" dirty="0"/>
          </a:p>
        </p:txBody>
      </p:sp>
      <p:sp>
        <p:nvSpPr>
          <p:cNvPr id="11" name="TextBox 10">
            <a:extLst>
              <a:ext uri="{FF2B5EF4-FFF2-40B4-BE49-F238E27FC236}">
                <a16:creationId xmlns:a16="http://schemas.microsoft.com/office/drawing/2014/main" id="{4268DF5B-F5E8-4CCB-8D4E-EFC02212997D}"/>
              </a:ext>
            </a:extLst>
          </p:cNvPr>
          <p:cNvSpPr txBox="1"/>
          <p:nvPr/>
        </p:nvSpPr>
        <p:spPr>
          <a:xfrm>
            <a:off x="596348" y="3332833"/>
            <a:ext cx="8557792" cy="954107"/>
          </a:xfrm>
          <a:prstGeom prst="rect">
            <a:avLst/>
          </a:prstGeom>
          <a:noFill/>
        </p:spPr>
        <p:txBody>
          <a:bodyPr wrap="none" rtlCol="0">
            <a:spAutoFit/>
          </a:bodyPr>
          <a:lstStyle/>
          <a:p>
            <a:r>
              <a:rPr lang="en-US" sz="2800" dirty="0"/>
              <a:t>TRAFFIC x ENGINEERING = </a:t>
            </a:r>
            <a:r>
              <a:rPr lang="en-US" sz="2800" dirty="0">
                <a:sym typeface="Wingdings" panose="05000000000000000000" pitchFamily="2" charset="2"/>
              </a:rPr>
              <a:t>Traffic  (Infra) x (Operations)</a:t>
            </a:r>
            <a:endParaRPr lang="en-US" sz="2800" dirty="0"/>
          </a:p>
          <a:p>
            <a:endParaRPr lang="fr-BE" sz="2800" dirty="0"/>
          </a:p>
        </p:txBody>
      </p:sp>
      <p:sp>
        <p:nvSpPr>
          <p:cNvPr id="12" name="TextBox 11">
            <a:extLst>
              <a:ext uri="{FF2B5EF4-FFF2-40B4-BE49-F238E27FC236}">
                <a16:creationId xmlns:a16="http://schemas.microsoft.com/office/drawing/2014/main" id="{5F0AD25F-79D0-46C5-9224-A5B2D3F9B7DB}"/>
              </a:ext>
            </a:extLst>
          </p:cNvPr>
          <p:cNvSpPr txBox="1"/>
          <p:nvPr/>
        </p:nvSpPr>
        <p:spPr>
          <a:xfrm>
            <a:off x="623861" y="3952454"/>
            <a:ext cx="7945923" cy="1323439"/>
          </a:xfrm>
          <a:prstGeom prst="rect">
            <a:avLst/>
          </a:prstGeom>
          <a:noFill/>
        </p:spPr>
        <p:txBody>
          <a:bodyPr wrap="square" rtlCol="0">
            <a:spAutoFit/>
          </a:bodyPr>
          <a:lstStyle/>
          <a:p>
            <a:r>
              <a:rPr lang="en-US" sz="2800" b="1" dirty="0">
                <a:solidFill>
                  <a:srgbClr val="FF0000"/>
                </a:solidFill>
              </a:rPr>
              <a:t>Fully connected</a:t>
            </a:r>
          </a:p>
          <a:p>
            <a:r>
              <a:rPr lang="fr-BE" sz="2400" dirty="0"/>
              <a:t>Single rides =&gt; More Rides =&gt; More </a:t>
            </a:r>
            <a:r>
              <a:rPr lang="en-GB" sz="2400" dirty="0"/>
              <a:t>Vehicles</a:t>
            </a:r>
            <a:r>
              <a:rPr lang="fr-BE" sz="2400" dirty="0"/>
              <a:t> =&gt; More Energy  =&gt; More CO2 =&gt; More Traffic =&gt; </a:t>
            </a:r>
            <a:r>
              <a:rPr lang="fr-BE" sz="2800" b="1" dirty="0">
                <a:solidFill>
                  <a:srgbClr val="FF0000"/>
                </a:solidFill>
              </a:rPr>
              <a:t>More</a:t>
            </a:r>
            <a:r>
              <a:rPr lang="fr-BE" sz="2800" dirty="0"/>
              <a:t> </a:t>
            </a:r>
            <a:r>
              <a:rPr lang="fr-BE" sz="2800" b="1" dirty="0">
                <a:solidFill>
                  <a:srgbClr val="FF0000"/>
                </a:solidFill>
              </a:rPr>
              <a:t>TIME</a:t>
            </a:r>
          </a:p>
        </p:txBody>
      </p:sp>
      <p:sp>
        <p:nvSpPr>
          <p:cNvPr id="13" name="TextBox 12">
            <a:extLst>
              <a:ext uri="{FF2B5EF4-FFF2-40B4-BE49-F238E27FC236}">
                <a16:creationId xmlns:a16="http://schemas.microsoft.com/office/drawing/2014/main" id="{B5EBC4F7-B2BE-4874-9364-B5CCC578676A}"/>
              </a:ext>
            </a:extLst>
          </p:cNvPr>
          <p:cNvSpPr txBox="1"/>
          <p:nvPr/>
        </p:nvSpPr>
        <p:spPr>
          <a:xfrm>
            <a:off x="596348" y="5373122"/>
            <a:ext cx="7945923" cy="1261884"/>
          </a:xfrm>
          <a:prstGeom prst="rect">
            <a:avLst/>
          </a:prstGeom>
          <a:noFill/>
        </p:spPr>
        <p:txBody>
          <a:bodyPr wrap="square" rtlCol="0">
            <a:spAutoFit/>
          </a:bodyPr>
          <a:lstStyle/>
          <a:p>
            <a:r>
              <a:rPr lang="en-US" sz="2800" b="1" dirty="0">
                <a:solidFill>
                  <a:schemeClr val="accent6">
                    <a:lumMod val="75000"/>
                  </a:schemeClr>
                </a:solidFill>
              </a:rPr>
              <a:t>Ideally connected (maps Org/</a:t>
            </a:r>
            <a:r>
              <a:rPr lang="en-US" sz="2800" b="1" dirty="0" err="1">
                <a:solidFill>
                  <a:schemeClr val="accent6">
                    <a:lumMod val="75000"/>
                  </a:schemeClr>
                </a:solidFill>
              </a:rPr>
              <a:t>Dest</a:t>
            </a:r>
            <a:r>
              <a:rPr lang="fr-BE" sz="2800" dirty="0"/>
              <a:t>)</a:t>
            </a:r>
            <a:endParaRPr lang="en-US" sz="2800" b="1" dirty="0">
              <a:solidFill>
                <a:schemeClr val="accent6">
                  <a:lumMod val="75000"/>
                </a:schemeClr>
              </a:solidFill>
            </a:endParaRPr>
          </a:p>
          <a:p>
            <a:r>
              <a:rPr lang="fr-BE" sz="2400" dirty="0"/>
              <a:t>Vehicles </a:t>
            </a:r>
            <a:r>
              <a:rPr lang="fr-BE" sz="2400" dirty="0" err="1"/>
              <a:t>Load</a:t>
            </a:r>
            <a:r>
              <a:rPr lang="fr-BE" sz="2400" dirty="0"/>
              <a:t> Balance =&gt; </a:t>
            </a:r>
            <a:r>
              <a:rPr lang="fr-BE" sz="2400" dirty="0" err="1"/>
              <a:t>Less</a:t>
            </a:r>
            <a:r>
              <a:rPr lang="fr-BE" sz="2400" dirty="0"/>
              <a:t> </a:t>
            </a:r>
            <a:r>
              <a:rPr lang="en-US" sz="2400" dirty="0"/>
              <a:t>Journeys </a:t>
            </a:r>
            <a:r>
              <a:rPr lang="fr-BE" sz="2400" dirty="0"/>
              <a:t> </a:t>
            </a:r>
          </a:p>
          <a:p>
            <a:r>
              <a:rPr lang="fr-BE" sz="2400" dirty="0"/>
              <a:t>Path </a:t>
            </a:r>
            <a:r>
              <a:rPr lang="fr-BE" sz="2400" dirty="0" err="1"/>
              <a:t>Redudancy</a:t>
            </a:r>
            <a:r>
              <a:rPr lang="fr-BE" sz="2400" dirty="0"/>
              <a:t> =&gt; </a:t>
            </a:r>
            <a:r>
              <a:rPr lang="fr-BE" sz="2400" dirty="0" err="1"/>
              <a:t>Less</a:t>
            </a:r>
            <a:r>
              <a:rPr lang="fr-BE" sz="2400" dirty="0"/>
              <a:t> </a:t>
            </a:r>
            <a:r>
              <a:rPr lang="en-US" sz="2400" dirty="0"/>
              <a:t>Stress </a:t>
            </a:r>
            <a:endParaRPr lang="fr-BE" sz="2400" dirty="0"/>
          </a:p>
        </p:txBody>
      </p:sp>
    </p:spTree>
    <p:extLst>
      <p:ext uri="{BB962C8B-B14F-4D97-AF65-F5344CB8AC3E}">
        <p14:creationId xmlns:p14="http://schemas.microsoft.com/office/powerpoint/2010/main" val="3048223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82C05-AD0C-49AA-9058-D1A254CA8A30}"/>
              </a:ext>
            </a:extLst>
          </p:cNvPr>
          <p:cNvSpPr>
            <a:spLocks noGrp="1"/>
          </p:cNvSpPr>
          <p:nvPr>
            <p:ph type="title"/>
          </p:nvPr>
        </p:nvSpPr>
        <p:spPr/>
        <p:txBody>
          <a:bodyPr/>
          <a:lstStyle/>
          <a:p>
            <a:r>
              <a:rPr lang="en-US" dirty="0"/>
              <a:t>Chp.1 – The problem</a:t>
            </a:r>
            <a:endParaRPr lang="fr-BE" dirty="0"/>
          </a:p>
        </p:txBody>
      </p:sp>
    </p:spTree>
    <p:extLst>
      <p:ext uri="{BB962C8B-B14F-4D97-AF65-F5344CB8AC3E}">
        <p14:creationId xmlns:p14="http://schemas.microsoft.com/office/powerpoint/2010/main" val="2100203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86B83-2319-4234-A711-D8D0D86F958F}"/>
              </a:ext>
            </a:extLst>
          </p:cNvPr>
          <p:cNvSpPr>
            <a:spLocks noGrp="1"/>
          </p:cNvSpPr>
          <p:nvPr>
            <p:ph type="title"/>
          </p:nvPr>
        </p:nvSpPr>
        <p:spPr/>
        <p:txBody>
          <a:bodyPr/>
          <a:lstStyle/>
          <a:p>
            <a:r>
              <a:rPr lang="en-US" dirty="0"/>
              <a:t>Chp.1 - What I have done</a:t>
            </a:r>
            <a:endParaRPr lang="fr-BE" dirty="0"/>
          </a:p>
        </p:txBody>
      </p:sp>
      <p:sp>
        <p:nvSpPr>
          <p:cNvPr id="4" name="TextBox 3">
            <a:extLst>
              <a:ext uri="{FF2B5EF4-FFF2-40B4-BE49-F238E27FC236}">
                <a16:creationId xmlns:a16="http://schemas.microsoft.com/office/drawing/2014/main" id="{4B3252C9-33D4-47C1-B1D9-9F16593AC2D1}"/>
              </a:ext>
            </a:extLst>
          </p:cNvPr>
          <p:cNvSpPr txBox="1"/>
          <p:nvPr/>
        </p:nvSpPr>
        <p:spPr>
          <a:xfrm>
            <a:off x="838200" y="1506895"/>
            <a:ext cx="11009243" cy="4985980"/>
          </a:xfrm>
          <a:prstGeom prst="rect">
            <a:avLst/>
          </a:prstGeom>
          <a:noFill/>
        </p:spPr>
        <p:txBody>
          <a:bodyPr wrap="square" rtlCol="0">
            <a:spAutoFit/>
          </a:bodyPr>
          <a:lstStyle/>
          <a:p>
            <a:r>
              <a:rPr lang="en-US" sz="2400" dirty="0"/>
              <a:t>Good sense:</a:t>
            </a:r>
          </a:p>
          <a:p>
            <a:r>
              <a:rPr lang="en-US" sz="2000" dirty="0"/>
              <a:t>The fastest lane should be those with higher number of passenger.</a:t>
            </a:r>
          </a:p>
          <a:p>
            <a:r>
              <a:rPr lang="en-US" sz="2000" dirty="0"/>
              <a:t>Service equality responsibility.</a:t>
            </a:r>
          </a:p>
          <a:p>
            <a:r>
              <a:rPr lang="en-US" sz="2000" dirty="0"/>
              <a:t>Additional cars should provisioned according to a given load.</a:t>
            </a:r>
          </a:p>
          <a:p>
            <a:r>
              <a:rPr lang="en-US" sz="2000" dirty="0"/>
              <a:t>New lines/routes should meet a efficiency measure that say more people arriving to their destination in less time,  with less potential stress and, if possible, less energy consumption. </a:t>
            </a:r>
          </a:p>
          <a:p>
            <a:r>
              <a:rPr lang="en-US" sz="2400" dirty="0"/>
              <a:t>Data engineering:</a:t>
            </a:r>
          </a:p>
          <a:p>
            <a:r>
              <a:rPr lang="en-US" sz="2000" dirty="0"/>
              <a:t>- Collected data from TFL Unified API and NUMBAT Project. Combined data-sets from different sources and transformed so it could be modeled.</a:t>
            </a:r>
          </a:p>
          <a:p>
            <a:r>
              <a:rPr lang="en-US" sz="2400" dirty="0"/>
              <a:t>Data Modelling:</a:t>
            </a:r>
          </a:p>
          <a:p>
            <a:r>
              <a:rPr lang="en-US" sz="2000" dirty="0"/>
              <a:t>- Used Neo4J and NetworkX to model to run graph theory algorithm.</a:t>
            </a:r>
          </a:p>
          <a:p>
            <a:r>
              <a:rPr lang="en-US" sz="2400" dirty="0"/>
              <a:t>Data Analysis:</a:t>
            </a:r>
          </a:p>
          <a:p>
            <a:pPr marL="342900" indent="-342900">
              <a:buFontTx/>
              <a:buChar char="-"/>
            </a:pPr>
            <a:r>
              <a:rPr lang="en-US" sz="2000" dirty="0"/>
              <a:t>Assemble charts, maps, ranks and used statistics and correlation metrics to evaluate the results.</a:t>
            </a:r>
          </a:p>
          <a:p>
            <a:r>
              <a:rPr lang="en-US" sz="2400" dirty="0"/>
              <a:t>Conclusion:</a:t>
            </a:r>
          </a:p>
          <a:p>
            <a:r>
              <a:rPr lang="fr-BE" dirty="0"/>
              <a:t>-  </a:t>
            </a:r>
            <a:r>
              <a:rPr lang="en-GB" dirty="0"/>
              <a:t>Acquired critic sense </a:t>
            </a:r>
            <a:r>
              <a:rPr lang="fr-BE" dirty="0"/>
              <a:t>about the </a:t>
            </a:r>
            <a:r>
              <a:rPr lang="en-US" dirty="0"/>
              <a:t>subject raising technical and moral </a:t>
            </a:r>
            <a:r>
              <a:rPr lang="fr-BE" dirty="0"/>
              <a:t>questions about transport </a:t>
            </a:r>
            <a:r>
              <a:rPr lang="fr-BE" dirty="0" err="1"/>
              <a:t>systems</a:t>
            </a:r>
            <a:r>
              <a:rPr lang="fr-BE" dirty="0"/>
              <a:t>.</a:t>
            </a:r>
          </a:p>
        </p:txBody>
      </p:sp>
    </p:spTree>
    <p:extLst>
      <p:ext uri="{BB962C8B-B14F-4D97-AF65-F5344CB8AC3E}">
        <p14:creationId xmlns:p14="http://schemas.microsoft.com/office/powerpoint/2010/main" val="2032507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52A9-FBE1-433E-B907-5D8698440D8F}"/>
              </a:ext>
            </a:extLst>
          </p:cNvPr>
          <p:cNvSpPr>
            <a:spLocks noGrp="1"/>
          </p:cNvSpPr>
          <p:nvPr>
            <p:ph type="title"/>
          </p:nvPr>
        </p:nvSpPr>
        <p:spPr/>
        <p:txBody>
          <a:bodyPr/>
          <a:lstStyle/>
          <a:p>
            <a:r>
              <a:rPr lang="en-US" dirty="0"/>
              <a:t>Chp.3 - Data</a:t>
            </a:r>
            <a:endParaRPr lang="fr-BE" dirty="0"/>
          </a:p>
        </p:txBody>
      </p:sp>
      <p:pic>
        <p:nvPicPr>
          <p:cNvPr id="5" name="Picture 4">
            <a:extLst>
              <a:ext uri="{FF2B5EF4-FFF2-40B4-BE49-F238E27FC236}">
                <a16:creationId xmlns:a16="http://schemas.microsoft.com/office/drawing/2014/main" id="{9ABB7B5C-10A2-4836-91AD-9592C3C32775}"/>
              </a:ext>
            </a:extLst>
          </p:cNvPr>
          <p:cNvPicPr>
            <a:picLocks noChangeAspect="1"/>
          </p:cNvPicPr>
          <p:nvPr/>
        </p:nvPicPr>
        <p:blipFill>
          <a:blip r:embed="rId3"/>
          <a:stretch>
            <a:fillRect/>
          </a:stretch>
        </p:blipFill>
        <p:spPr>
          <a:xfrm>
            <a:off x="401649" y="2162128"/>
            <a:ext cx="5679943" cy="1983359"/>
          </a:xfrm>
          <a:prstGeom prst="rect">
            <a:avLst/>
          </a:prstGeom>
        </p:spPr>
      </p:pic>
      <p:pic>
        <p:nvPicPr>
          <p:cNvPr id="7" name="Picture 6">
            <a:extLst>
              <a:ext uri="{FF2B5EF4-FFF2-40B4-BE49-F238E27FC236}">
                <a16:creationId xmlns:a16="http://schemas.microsoft.com/office/drawing/2014/main" id="{8330029E-58CE-4705-8035-54B88B4FED03}"/>
              </a:ext>
            </a:extLst>
          </p:cNvPr>
          <p:cNvPicPr>
            <a:picLocks noChangeAspect="1"/>
          </p:cNvPicPr>
          <p:nvPr/>
        </p:nvPicPr>
        <p:blipFill>
          <a:blip r:embed="rId4"/>
          <a:stretch>
            <a:fillRect/>
          </a:stretch>
        </p:blipFill>
        <p:spPr>
          <a:xfrm>
            <a:off x="1412663" y="1580197"/>
            <a:ext cx="3103632" cy="581931"/>
          </a:xfrm>
          <a:prstGeom prst="rect">
            <a:avLst/>
          </a:prstGeom>
        </p:spPr>
      </p:pic>
      <p:pic>
        <p:nvPicPr>
          <p:cNvPr id="9" name="Picture 8">
            <a:extLst>
              <a:ext uri="{FF2B5EF4-FFF2-40B4-BE49-F238E27FC236}">
                <a16:creationId xmlns:a16="http://schemas.microsoft.com/office/drawing/2014/main" id="{12E68D72-8904-4A00-A104-C29EB3934865}"/>
              </a:ext>
            </a:extLst>
          </p:cNvPr>
          <p:cNvPicPr>
            <a:picLocks noChangeAspect="1"/>
          </p:cNvPicPr>
          <p:nvPr/>
        </p:nvPicPr>
        <p:blipFill>
          <a:blip r:embed="rId5"/>
          <a:stretch>
            <a:fillRect/>
          </a:stretch>
        </p:blipFill>
        <p:spPr>
          <a:xfrm>
            <a:off x="6803472" y="3526907"/>
            <a:ext cx="5244775" cy="3063875"/>
          </a:xfrm>
          <a:prstGeom prst="rect">
            <a:avLst/>
          </a:prstGeom>
        </p:spPr>
      </p:pic>
      <p:pic>
        <p:nvPicPr>
          <p:cNvPr id="13" name="Picture 12">
            <a:extLst>
              <a:ext uri="{FF2B5EF4-FFF2-40B4-BE49-F238E27FC236}">
                <a16:creationId xmlns:a16="http://schemas.microsoft.com/office/drawing/2014/main" id="{622A7EBF-E53E-4030-A364-E972B551E8CF}"/>
              </a:ext>
            </a:extLst>
          </p:cNvPr>
          <p:cNvPicPr>
            <a:picLocks noChangeAspect="1"/>
          </p:cNvPicPr>
          <p:nvPr/>
        </p:nvPicPr>
        <p:blipFill>
          <a:blip r:embed="rId6"/>
          <a:stretch>
            <a:fillRect/>
          </a:stretch>
        </p:blipFill>
        <p:spPr>
          <a:xfrm>
            <a:off x="6448623" y="1759709"/>
            <a:ext cx="2990589" cy="1626845"/>
          </a:xfrm>
          <a:prstGeom prst="rect">
            <a:avLst/>
          </a:prstGeom>
        </p:spPr>
      </p:pic>
      <p:pic>
        <p:nvPicPr>
          <p:cNvPr id="15" name="Picture 14">
            <a:extLst>
              <a:ext uri="{FF2B5EF4-FFF2-40B4-BE49-F238E27FC236}">
                <a16:creationId xmlns:a16="http://schemas.microsoft.com/office/drawing/2014/main" id="{1D4FD571-9B18-4F9C-927F-BABC8F1CCE02}"/>
              </a:ext>
            </a:extLst>
          </p:cNvPr>
          <p:cNvPicPr>
            <a:picLocks noChangeAspect="1"/>
          </p:cNvPicPr>
          <p:nvPr/>
        </p:nvPicPr>
        <p:blipFill>
          <a:blip r:embed="rId7"/>
          <a:stretch>
            <a:fillRect/>
          </a:stretch>
        </p:blipFill>
        <p:spPr>
          <a:xfrm>
            <a:off x="9425860" y="434146"/>
            <a:ext cx="2641632" cy="1617491"/>
          </a:xfrm>
          <a:prstGeom prst="rect">
            <a:avLst/>
          </a:prstGeom>
        </p:spPr>
      </p:pic>
      <p:pic>
        <p:nvPicPr>
          <p:cNvPr id="17" name="Picture 16">
            <a:extLst>
              <a:ext uri="{FF2B5EF4-FFF2-40B4-BE49-F238E27FC236}">
                <a16:creationId xmlns:a16="http://schemas.microsoft.com/office/drawing/2014/main" id="{09F4F193-429C-46B7-B437-56F58D528D33}"/>
              </a:ext>
            </a:extLst>
          </p:cNvPr>
          <p:cNvPicPr>
            <a:picLocks noChangeAspect="1"/>
          </p:cNvPicPr>
          <p:nvPr/>
        </p:nvPicPr>
        <p:blipFill>
          <a:blip r:embed="rId8"/>
          <a:stretch>
            <a:fillRect/>
          </a:stretch>
        </p:blipFill>
        <p:spPr>
          <a:xfrm>
            <a:off x="6822717" y="720324"/>
            <a:ext cx="1625790" cy="615163"/>
          </a:xfrm>
          <a:prstGeom prst="rect">
            <a:avLst/>
          </a:prstGeom>
        </p:spPr>
      </p:pic>
      <p:pic>
        <p:nvPicPr>
          <p:cNvPr id="6" name="Picture 5" descr="Table&#10;&#10;Description automatically generated">
            <a:extLst>
              <a:ext uri="{FF2B5EF4-FFF2-40B4-BE49-F238E27FC236}">
                <a16:creationId xmlns:a16="http://schemas.microsoft.com/office/drawing/2014/main" id="{33FB01B4-0DAF-2A0E-7329-F985CBC1768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12663" y="4661064"/>
            <a:ext cx="3657917" cy="1775614"/>
          </a:xfrm>
          <a:prstGeom prst="rect">
            <a:avLst/>
          </a:prstGeom>
        </p:spPr>
      </p:pic>
    </p:spTree>
    <p:extLst>
      <p:ext uri="{BB962C8B-B14F-4D97-AF65-F5344CB8AC3E}">
        <p14:creationId xmlns:p14="http://schemas.microsoft.com/office/powerpoint/2010/main" val="719035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52A9-FBE1-433E-B907-5D8698440D8F}"/>
              </a:ext>
            </a:extLst>
          </p:cNvPr>
          <p:cNvSpPr>
            <a:spLocks noGrp="1"/>
          </p:cNvSpPr>
          <p:nvPr>
            <p:ph type="title"/>
          </p:nvPr>
        </p:nvSpPr>
        <p:spPr/>
        <p:txBody>
          <a:bodyPr/>
          <a:lstStyle/>
          <a:p>
            <a:r>
              <a:rPr lang="en-US" dirty="0"/>
              <a:t>Chp.3 – Data Anomalies</a:t>
            </a:r>
            <a:endParaRPr lang="fr-BE" dirty="0"/>
          </a:p>
        </p:txBody>
      </p:sp>
      <p:sp>
        <p:nvSpPr>
          <p:cNvPr id="6" name="TextBox 5">
            <a:extLst>
              <a:ext uri="{FF2B5EF4-FFF2-40B4-BE49-F238E27FC236}">
                <a16:creationId xmlns:a16="http://schemas.microsoft.com/office/drawing/2014/main" id="{A11CD5CC-C07D-5E80-3D58-87D4D8ABDF52}"/>
              </a:ext>
            </a:extLst>
          </p:cNvPr>
          <p:cNvSpPr txBox="1"/>
          <p:nvPr/>
        </p:nvSpPr>
        <p:spPr>
          <a:xfrm>
            <a:off x="954156" y="1401417"/>
            <a:ext cx="8239540" cy="1200329"/>
          </a:xfrm>
          <a:prstGeom prst="rect">
            <a:avLst/>
          </a:prstGeom>
          <a:noFill/>
        </p:spPr>
        <p:txBody>
          <a:bodyPr wrap="square" rtlCol="0">
            <a:spAutoFit/>
          </a:bodyPr>
          <a:lstStyle/>
          <a:p>
            <a:r>
              <a:rPr lang="en-US" dirty="0"/>
              <a:t>However, it's not always the case in our data. We kept it respecting the data source and we will use it to illustrate the validity of the mode.</a:t>
            </a:r>
          </a:p>
          <a:p>
            <a:endParaRPr lang="en-US" dirty="0"/>
          </a:p>
          <a:p>
            <a:r>
              <a:rPr lang="en-US" dirty="0"/>
              <a:t>Take by example the following subgraph:</a:t>
            </a:r>
            <a:endParaRPr lang="fr-BE" dirty="0"/>
          </a:p>
        </p:txBody>
      </p:sp>
      <p:pic>
        <p:nvPicPr>
          <p:cNvPr id="7" name="Picture 6">
            <a:extLst>
              <a:ext uri="{FF2B5EF4-FFF2-40B4-BE49-F238E27FC236}">
                <a16:creationId xmlns:a16="http://schemas.microsoft.com/office/drawing/2014/main" id="{2438BBF7-8CD8-457B-D086-9A11B9087866}"/>
              </a:ext>
            </a:extLst>
          </p:cNvPr>
          <p:cNvPicPr>
            <a:picLocks noChangeAspect="1"/>
          </p:cNvPicPr>
          <p:nvPr/>
        </p:nvPicPr>
        <p:blipFill>
          <a:blip r:embed="rId3"/>
          <a:stretch>
            <a:fillRect/>
          </a:stretch>
        </p:blipFill>
        <p:spPr>
          <a:xfrm>
            <a:off x="954156" y="2778983"/>
            <a:ext cx="10201294" cy="3421684"/>
          </a:xfrm>
          <a:prstGeom prst="rect">
            <a:avLst/>
          </a:prstGeom>
        </p:spPr>
      </p:pic>
    </p:spTree>
    <p:extLst>
      <p:ext uri="{BB962C8B-B14F-4D97-AF65-F5344CB8AC3E}">
        <p14:creationId xmlns:p14="http://schemas.microsoft.com/office/powerpoint/2010/main" val="575587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52A9-FBE1-433E-B907-5D8698440D8F}"/>
              </a:ext>
            </a:extLst>
          </p:cNvPr>
          <p:cNvSpPr>
            <a:spLocks noGrp="1"/>
          </p:cNvSpPr>
          <p:nvPr>
            <p:ph type="title"/>
          </p:nvPr>
        </p:nvSpPr>
        <p:spPr/>
        <p:txBody>
          <a:bodyPr/>
          <a:lstStyle/>
          <a:p>
            <a:r>
              <a:rPr lang="en-US" dirty="0"/>
              <a:t>Chp.3 – Data Anomalies</a:t>
            </a:r>
            <a:endParaRPr lang="fr-BE" dirty="0"/>
          </a:p>
        </p:txBody>
      </p:sp>
      <p:sp>
        <p:nvSpPr>
          <p:cNvPr id="6" name="TextBox 5">
            <a:extLst>
              <a:ext uri="{FF2B5EF4-FFF2-40B4-BE49-F238E27FC236}">
                <a16:creationId xmlns:a16="http://schemas.microsoft.com/office/drawing/2014/main" id="{A11CD5CC-C07D-5E80-3D58-87D4D8ABDF52}"/>
              </a:ext>
            </a:extLst>
          </p:cNvPr>
          <p:cNvSpPr txBox="1"/>
          <p:nvPr/>
        </p:nvSpPr>
        <p:spPr>
          <a:xfrm>
            <a:off x="954156" y="1401417"/>
            <a:ext cx="8239540" cy="1200329"/>
          </a:xfrm>
          <a:prstGeom prst="rect">
            <a:avLst/>
          </a:prstGeom>
          <a:noFill/>
        </p:spPr>
        <p:txBody>
          <a:bodyPr wrap="square" rtlCol="0">
            <a:spAutoFit/>
          </a:bodyPr>
          <a:lstStyle/>
          <a:p>
            <a:r>
              <a:rPr lang="en-US" dirty="0"/>
              <a:t>However, it's not always the case in our data. We kept it respecting the data source and we will use it to illustrate the validity of the mode.</a:t>
            </a:r>
          </a:p>
          <a:p>
            <a:endParaRPr lang="en-US" dirty="0"/>
          </a:p>
          <a:p>
            <a:r>
              <a:rPr lang="en-US" dirty="0"/>
              <a:t>Take by example the following subgraph:</a:t>
            </a:r>
            <a:endParaRPr lang="fr-BE" dirty="0"/>
          </a:p>
        </p:txBody>
      </p:sp>
      <p:pic>
        <p:nvPicPr>
          <p:cNvPr id="3" name="Picture 2">
            <a:extLst>
              <a:ext uri="{FF2B5EF4-FFF2-40B4-BE49-F238E27FC236}">
                <a16:creationId xmlns:a16="http://schemas.microsoft.com/office/drawing/2014/main" id="{AD17AB4B-A296-2031-238F-3442399880D1}"/>
              </a:ext>
            </a:extLst>
          </p:cNvPr>
          <p:cNvPicPr>
            <a:picLocks noChangeAspect="1"/>
          </p:cNvPicPr>
          <p:nvPr/>
        </p:nvPicPr>
        <p:blipFill>
          <a:blip r:embed="rId3"/>
          <a:stretch>
            <a:fillRect/>
          </a:stretch>
        </p:blipFill>
        <p:spPr>
          <a:xfrm>
            <a:off x="954156" y="2726980"/>
            <a:ext cx="10973751" cy="3680779"/>
          </a:xfrm>
          <a:prstGeom prst="rect">
            <a:avLst/>
          </a:prstGeom>
        </p:spPr>
      </p:pic>
    </p:spTree>
    <p:extLst>
      <p:ext uri="{BB962C8B-B14F-4D97-AF65-F5344CB8AC3E}">
        <p14:creationId xmlns:p14="http://schemas.microsoft.com/office/powerpoint/2010/main" val="689519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52A9-FBE1-433E-B907-5D8698440D8F}"/>
              </a:ext>
            </a:extLst>
          </p:cNvPr>
          <p:cNvSpPr>
            <a:spLocks noGrp="1"/>
          </p:cNvSpPr>
          <p:nvPr>
            <p:ph type="title"/>
          </p:nvPr>
        </p:nvSpPr>
        <p:spPr/>
        <p:txBody>
          <a:bodyPr/>
          <a:lstStyle/>
          <a:p>
            <a:r>
              <a:rPr lang="en-US" dirty="0"/>
              <a:t>Chp.3 – Data Anomalies</a:t>
            </a:r>
            <a:endParaRPr lang="fr-BE" dirty="0"/>
          </a:p>
        </p:txBody>
      </p:sp>
      <p:sp>
        <p:nvSpPr>
          <p:cNvPr id="6" name="TextBox 5">
            <a:extLst>
              <a:ext uri="{FF2B5EF4-FFF2-40B4-BE49-F238E27FC236}">
                <a16:creationId xmlns:a16="http://schemas.microsoft.com/office/drawing/2014/main" id="{A11CD5CC-C07D-5E80-3D58-87D4D8ABDF52}"/>
              </a:ext>
            </a:extLst>
          </p:cNvPr>
          <p:cNvSpPr txBox="1"/>
          <p:nvPr/>
        </p:nvSpPr>
        <p:spPr>
          <a:xfrm>
            <a:off x="954156" y="1401417"/>
            <a:ext cx="8239540" cy="1200329"/>
          </a:xfrm>
          <a:prstGeom prst="rect">
            <a:avLst/>
          </a:prstGeom>
          <a:noFill/>
        </p:spPr>
        <p:txBody>
          <a:bodyPr wrap="square" rtlCol="0">
            <a:spAutoFit/>
          </a:bodyPr>
          <a:lstStyle/>
          <a:p>
            <a:r>
              <a:rPr lang="en-US" dirty="0"/>
              <a:t>However, it's not always the case in our data. We kept it respecting the data source and we will use it to illustrate the validity of the mode.</a:t>
            </a:r>
          </a:p>
          <a:p>
            <a:endParaRPr lang="en-US" dirty="0"/>
          </a:p>
          <a:p>
            <a:r>
              <a:rPr lang="en-US" dirty="0"/>
              <a:t>Take by example the following subgraph:</a:t>
            </a:r>
            <a:endParaRPr lang="fr-BE" dirty="0"/>
          </a:p>
        </p:txBody>
      </p:sp>
      <p:pic>
        <p:nvPicPr>
          <p:cNvPr id="3" name="Picture 2">
            <a:extLst>
              <a:ext uri="{FF2B5EF4-FFF2-40B4-BE49-F238E27FC236}">
                <a16:creationId xmlns:a16="http://schemas.microsoft.com/office/drawing/2014/main" id="{FEF0B432-BA15-1946-452D-048A3D71CA65}"/>
              </a:ext>
            </a:extLst>
          </p:cNvPr>
          <p:cNvPicPr>
            <a:picLocks noChangeAspect="1"/>
          </p:cNvPicPr>
          <p:nvPr/>
        </p:nvPicPr>
        <p:blipFill>
          <a:blip r:embed="rId3"/>
          <a:stretch>
            <a:fillRect/>
          </a:stretch>
        </p:blipFill>
        <p:spPr>
          <a:xfrm>
            <a:off x="748272" y="2920453"/>
            <a:ext cx="10973751" cy="3680779"/>
          </a:xfrm>
          <a:prstGeom prst="rect">
            <a:avLst/>
          </a:prstGeom>
        </p:spPr>
      </p:pic>
    </p:spTree>
    <p:extLst>
      <p:ext uri="{BB962C8B-B14F-4D97-AF65-F5344CB8AC3E}">
        <p14:creationId xmlns:p14="http://schemas.microsoft.com/office/powerpoint/2010/main" val="1673664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52A9-FBE1-433E-B907-5D8698440D8F}"/>
              </a:ext>
            </a:extLst>
          </p:cNvPr>
          <p:cNvSpPr>
            <a:spLocks noGrp="1"/>
          </p:cNvSpPr>
          <p:nvPr>
            <p:ph type="title"/>
          </p:nvPr>
        </p:nvSpPr>
        <p:spPr/>
        <p:txBody>
          <a:bodyPr/>
          <a:lstStyle/>
          <a:p>
            <a:r>
              <a:rPr lang="en-US" dirty="0"/>
              <a:t>Chp.3 – Data Anomalies</a:t>
            </a:r>
            <a:endParaRPr lang="fr-BE" dirty="0"/>
          </a:p>
        </p:txBody>
      </p:sp>
      <p:sp>
        <p:nvSpPr>
          <p:cNvPr id="6" name="TextBox 5">
            <a:extLst>
              <a:ext uri="{FF2B5EF4-FFF2-40B4-BE49-F238E27FC236}">
                <a16:creationId xmlns:a16="http://schemas.microsoft.com/office/drawing/2014/main" id="{A11CD5CC-C07D-5E80-3D58-87D4D8ABDF52}"/>
              </a:ext>
            </a:extLst>
          </p:cNvPr>
          <p:cNvSpPr txBox="1"/>
          <p:nvPr/>
        </p:nvSpPr>
        <p:spPr>
          <a:xfrm>
            <a:off x="954156" y="1401417"/>
            <a:ext cx="8239540" cy="1200329"/>
          </a:xfrm>
          <a:prstGeom prst="rect">
            <a:avLst/>
          </a:prstGeom>
          <a:noFill/>
        </p:spPr>
        <p:txBody>
          <a:bodyPr wrap="square" rtlCol="0">
            <a:spAutoFit/>
          </a:bodyPr>
          <a:lstStyle/>
          <a:p>
            <a:r>
              <a:rPr lang="en-US" dirty="0"/>
              <a:t>However, it's not always the case in our data. We kept it respecting the data source and we will use it to illustrate the validity of the mode.</a:t>
            </a:r>
          </a:p>
          <a:p>
            <a:endParaRPr lang="en-US" dirty="0"/>
          </a:p>
          <a:p>
            <a:r>
              <a:rPr lang="en-US" dirty="0"/>
              <a:t>Take by example the following subgraph:</a:t>
            </a:r>
            <a:endParaRPr lang="fr-BE" dirty="0"/>
          </a:p>
        </p:txBody>
      </p:sp>
      <p:pic>
        <p:nvPicPr>
          <p:cNvPr id="3" name="Picture 2">
            <a:extLst>
              <a:ext uri="{FF2B5EF4-FFF2-40B4-BE49-F238E27FC236}">
                <a16:creationId xmlns:a16="http://schemas.microsoft.com/office/drawing/2014/main" id="{163D9839-9AA7-A4BA-A5EB-17F1112629B2}"/>
              </a:ext>
            </a:extLst>
          </p:cNvPr>
          <p:cNvPicPr>
            <a:picLocks noChangeAspect="1"/>
          </p:cNvPicPr>
          <p:nvPr/>
        </p:nvPicPr>
        <p:blipFill>
          <a:blip r:embed="rId3"/>
          <a:stretch>
            <a:fillRect/>
          </a:stretch>
        </p:blipFill>
        <p:spPr>
          <a:xfrm>
            <a:off x="609124" y="2812096"/>
            <a:ext cx="10973751" cy="3680779"/>
          </a:xfrm>
          <a:prstGeom prst="rect">
            <a:avLst/>
          </a:prstGeom>
        </p:spPr>
      </p:pic>
    </p:spTree>
    <p:extLst>
      <p:ext uri="{BB962C8B-B14F-4D97-AF65-F5344CB8AC3E}">
        <p14:creationId xmlns:p14="http://schemas.microsoft.com/office/powerpoint/2010/main" val="2207421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52A9-FBE1-433E-B907-5D8698440D8F}"/>
              </a:ext>
            </a:extLst>
          </p:cNvPr>
          <p:cNvSpPr>
            <a:spLocks noGrp="1"/>
          </p:cNvSpPr>
          <p:nvPr>
            <p:ph type="title"/>
          </p:nvPr>
        </p:nvSpPr>
        <p:spPr/>
        <p:txBody>
          <a:bodyPr/>
          <a:lstStyle/>
          <a:p>
            <a:r>
              <a:rPr lang="en-US" dirty="0"/>
              <a:t>Chp.3 – Data Anomalies</a:t>
            </a:r>
            <a:endParaRPr lang="fr-BE" dirty="0"/>
          </a:p>
        </p:txBody>
      </p:sp>
      <p:sp>
        <p:nvSpPr>
          <p:cNvPr id="5" name="TextBox 4">
            <a:extLst>
              <a:ext uri="{FF2B5EF4-FFF2-40B4-BE49-F238E27FC236}">
                <a16:creationId xmlns:a16="http://schemas.microsoft.com/office/drawing/2014/main" id="{9621EFFF-90BA-2EE3-3DD4-E3F713FA01FA}"/>
              </a:ext>
            </a:extLst>
          </p:cNvPr>
          <p:cNvSpPr txBox="1"/>
          <p:nvPr/>
        </p:nvSpPr>
        <p:spPr>
          <a:xfrm>
            <a:off x="954156" y="1401417"/>
            <a:ext cx="10754140" cy="2031325"/>
          </a:xfrm>
          <a:prstGeom prst="rect">
            <a:avLst/>
          </a:prstGeom>
          <a:noFill/>
        </p:spPr>
        <p:txBody>
          <a:bodyPr wrap="square" rtlCol="0">
            <a:spAutoFit/>
          </a:bodyPr>
          <a:lstStyle/>
          <a:p>
            <a:r>
              <a:rPr lang="en-US" dirty="0"/>
              <a:t>The shortest path between Baker Street and Finchley Road is not its own edge.</a:t>
            </a:r>
          </a:p>
          <a:p>
            <a:endParaRPr lang="en-US" dirty="0"/>
          </a:p>
          <a:p>
            <a:r>
              <a:rPr lang="en-US" dirty="0"/>
              <a:t>Let's forget for a moment that the data is unrealistic, and pretend it is in fact what is happening.</a:t>
            </a:r>
          </a:p>
          <a:p>
            <a:endParaRPr lang="en-US" dirty="0"/>
          </a:p>
          <a:p>
            <a:r>
              <a:rPr lang="en-US" dirty="0"/>
              <a:t>From the journey time perspective, it the above mentioned will never be used. And, consequently,  it's rupture won't cause any distress. The same happen for the following edges:</a:t>
            </a:r>
          </a:p>
          <a:p>
            <a:endParaRPr lang="en-US" dirty="0"/>
          </a:p>
        </p:txBody>
      </p:sp>
      <p:graphicFrame>
        <p:nvGraphicFramePr>
          <p:cNvPr id="6" name="Table 5">
            <a:extLst>
              <a:ext uri="{FF2B5EF4-FFF2-40B4-BE49-F238E27FC236}">
                <a16:creationId xmlns:a16="http://schemas.microsoft.com/office/drawing/2014/main" id="{BF3492F4-D1A5-9495-082F-462014B0B26A}"/>
              </a:ext>
            </a:extLst>
          </p:cNvPr>
          <p:cNvGraphicFramePr>
            <a:graphicFrameLocks noGrp="1"/>
          </p:cNvGraphicFramePr>
          <p:nvPr>
            <p:extLst>
              <p:ext uri="{D42A27DB-BD31-4B8C-83A1-F6EECF244321}">
                <p14:modId xmlns:p14="http://schemas.microsoft.com/office/powerpoint/2010/main" val="1033981456"/>
              </p:ext>
            </p:extLst>
          </p:nvPr>
        </p:nvGraphicFramePr>
        <p:xfrm>
          <a:off x="4656483" y="3617478"/>
          <a:ext cx="2362200" cy="2278380"/>
        </p:xfrm>
        <a:graphic>
          <a:graphicData uri="http://schemas.openxmlformats.org/drawingml/2006/table">
            <a:tbl>
              <a:tblPr>
                <a:tableStyleId>{2D5ABB26-0587-4C30-8999-92F81FD0307C}</a:tableStyleId>
              </a:tblPr>
              <a:tblGrid>
                <a:gridCol w="609600">
                  <a:extLst>
                    <a:ext uri="{9D8B030D-6E8A-4147-A177-3AD203B41FA5}">
                      <a16:colId xmlns:a16="http://schemas.microsoft.com/office/drawing/2014/main" val="3901631556"/>
                    </a:ext>
                  </a:extLst>
                </a:gridCol>
                <a:gridCol w="876300">
                  <a:extLst>
                    <a:ext uri="{9D8B030D-6E8A-4147-A177-3AD203B41FA5}">
                      <a16:colId xmlns:a16="http://schemas.microsoft.com/office/drawing/2014/main" val="1591892126"/>
                    </a:ext>
                  </a:extLst>
                </a:gridCol>
                <a:gridCol w="876300">
                  <a:extLst>
                    <a:ext uri="{9D8B030D-6E8A-4147-A177-3AD203B41FA5}">
                      <a16:colId xmlns:a16="http://schemas.microsoft.com/office/drawing/2014/main" val="2853819682"/>
                    </a:ext>
                  </a:extLst>
                </a:gridCol>
              </a:tblGrid>
              <a:tr h="266700">
                <a:tc>
                  <a:txBody>
                    <a:bodyPr/>
                    <a:lstStyle/>
                    <a:p>
                      <a:pPr algn="l" fontAlgn="b"/>
                      <a:r>
                        <a:rPr lang="fr-BE" sz="1100" b="0" u="none" strike="noStrike">
                          <a:solidFill>
                            <a:srgbClr val="000000"/>
                          </a:solidFill>
                          <a:effectLst/>
                        </a:rPr>
                        <a:t>(9, 80)</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940GZZLUBST</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ctr"/>
                      <a:r>
                        <a:rPr lang="fr-BE" sz="1100" b="0" u="none" strike="noStrike">
                          <a:solidFill>
                            <a:srgbClr val="B58900"/>
                          </a:solidFill>
                          <a:effectLst/>
                        </a:rPr>
                        <a:t>940GZZLUFYR</a:t>
                      </a:r>
                      <a:endParaRPr lang="fr-BE" sz="1100" b="0" i="0" u="none" strike="noStrike">
                        <a:solidFill>
                          <a:srgbClr val="B589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649431753"/>
                  </a:ext>
                </a:extLst>
              </a:tr>
              <a:tr h="182880">
                <a:tc>
                  <a:txBody>
                    <a:bodyPr/>
                    <a:lstStyle/>
                    <a:p>
                      <a:pPr algn="l" fontAlgn="b"/>
                      <a:r>
                        <a:rPr lang="fr-BE" sz="1100" b="0" u="none" strike="noStrike">
                          <a:solidFill>
                            <a:srgbClr val="000000"/>
                          </a:solidFill>
                          <a:effectLst/>
                        </a:rPr>
                        <a:t>(11, 138)</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940GZZLUBNK</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65182475"/>
                  </a:ext>
                </a:extLst>
              </a:tr>
              <a:tr h="182880">
                <a:tc>
                  <a:txBody>
                    <a:bodyPr/>
                    <a:lstStyle/>
                    <a:p>
                      <a:pPr algn="l" fontAlgn="b"/>
                      <a:r>
                        <a:rPr lang="fr-BE" sz="1100" b="0" u="none" strike="noStrike">
                          <a:solidFill>
                            <a:srgbClr val="000000"/>
                          </a:solidFill>
                          <a:effectLst/>
                        </a:rPr>
                        <a:t>(11, 149)</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940GZZLUBNK</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79987773"/>
                  </a:ext>
                </a:extLst>
              </a:tr>
              <a:tr h="182880">
                <a:tc>
                  <a:txBody>
                    <a:bodyPr/>
                    <a:lstStyle/>
                    <a:p>
                      <a:pPr algn="l" fontAlgn="b"/>
                      <a:r>
                        <a:rPr lang="fr-BE" sz="1100" b="0" u="none" strike="noStrike">
                          <a:solidFill>
                            <a:srgbClr val="000000"/>
                          </a:solidFill>
                          <a:effectLst/>
                        </a:rPr>
                        <a:t>(34, 76)</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940GZZLUCTN</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64331750"/>
                  </a:ext>
                </a:extLst>
              </a:tr>
              <a:tr h="182880">
                <a:tc>
                  <a:txBody>
                    <a:bodyPr/>
                    <a:lstStyle/>
                    <a:p>
                      <a:pPr algn="l" fontAlgn="b"/>
                      <a:r>
                        <a:rPr lang="fr-BE" sz="1100" b="0" u="none" strike="noStrike">
                          <a:solidFill>
                            <a:srgbClr val="000000"/>
                          </a:solidFill>
                          <a:effectLst/>
                        </a:rPr>
                        <a:t>(71, 119)</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940GZZLUEAC</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940GZZLUKNG</a:t>
                      </a:r>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1754168"/>
                  </a:ext>
                </a:extLst>
              </a:tr>
              <a:tr h="182880">
                <a:tc>
                  <a:txBody>
                    <a:bodyPr/>
                    <a:lstStyle/>
                    <a:p>
                      <a:pPr algn="l" fontAlgn="b"/>
                      <a:r>
                        <a:rPr lang="fr-BE" sz="1100" b="0" u="none" strike="noStrike">
                          <a:solidFill>
                            <a:srgbClr val="000000"/>
                          </a:solidFill>
                          <a:effectLst/>
                        </a:rPr>
                        <a:t>(80, 9)</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ctr"/>
                      <a:r>
                        <a:rPr lang="fr-BE" sz="1100" b="0" u="none" strike="noStrike">
                          <a:solidFill>
                            <a:srgbClr val="B58900"/>
                          </a:solidFill>
                          <a:effectLst/>
                        </a:rPr>
                        <a:t>940GZZLUFYR</a:t>
                      </a:r>
                      <a:endParaRPr lang="fr-BE" sz="1100" b="0" i="0" u="none" strike="noStrike">
                        <a:solidFill>
                          <a:srgbClr val="B58900"/>
                        </a:solidFill>
                        <a:effectLst/>
                        <a:latin typeface="Calibri" panose="020F0502020204030204" pitchFamily="34" charset="0"/>
                      </a:endParaRPr>
                    </a:p>
                  </a:txBody>
                  <a:tcPr marL="7620" marR="7620" marT="7620" marB="0" anchor="ctr"/>
                </a:tc>
                <a:tc>
                  <a:txBody>
                    <a:bodyPr/>
                    <a:lstStyle/>
                    <a:p>
                      <a:pPr algn="l" fontAlgn="b"/>
                      <a:r>
                        <a:rPr lang="fr-BE" sz="1100" b="0" u="none" strike="noStrike">
                          <a:solidFill>
                            <a:srgbClr val="000000"/>
                          </a:solidFill>
                          <a:effectLst/>
                        </a:rPr>
                        <a:t>940GZZLUBST</a:t>
                      </a:r>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72390465"/>
                  </a:ext>
                </a:extLst>
              </a:tr>
              <a:tr h="182880">
                <a:tc>
                  <a:txBody>
                    <a:bodyPr/>
                    <a:lstStyle/>
                    <a:p>
                      <a:pPr algn="l" fontAlgn="b"/>
                      <a:r>
                        <a:rPr lang="fr-BE" sz="1100" b="0" u="none" strike="noStrike">
                          <a:solidFill>
                            <a:srgbClr val="000000"/>
                          </a:solidFill>
                          <a:effectLst/>
                        </a:rPr>
                        <a:t>(119, 71)</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940GZZLUKNG</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940GZZLUEAC</a:t>
                      </a:r>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09339201"/>
                  </a:ext>
                </a:extLst>
              </a:tr>
              <a:tr h="182880">
                <a:tc>
                  <a:txBody>
                    <a:bodyPr/>
                    <a:lstStyle/>
                    <a:p>
                      <a:pPr algn="l" fontAlgn="b"/>
                      <a:r>
                        <a:rPr lang="fr-BE" sz="1100" b="0" u="none" strike="noStrike">
                          <a:solidFill>
                            <a:srgbClr val="000000"/>
                          </a:solidFill>
                          <a:effectLst/>
                        </a:rPr>
                        <a:t>(129, 202)</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940GZZLUKNB</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49695300"/>
                  </a:ext>
                </a:extLst>
              </a:tr>
              <a:tr h="182880">
                <a:tc>
                  <a:txBody>
                    <a:bodyPr/>
                    <a:lstStyle/>
                    <a:p>
                      <a:pPr algn="l" fontAlgn="b"/>
                      <a:r>
                        <a:rPr lang="fr-BE" sz="1100" b="0" u="none" strike="noStrike">
                          <a:solidFill>
                            <a:srgbClr val="000000"/>
                          </a:solidFill>
                          <a:effectLst/>
                        </a:rPr>
                        <a:t>(138, 11)</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940GZZLUBNK</a:t>
                      </a:r>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58773356"/>
                  </a:ext>
                </a:extLst>
              </a:tr>
              <a:tr h="182880">
                <a:tc>
                  <a:txBody>
                    <a:bodyPr/>
                    <a:lstStyle/>
                    <a:p>
                      <a:pPr algn="l" fontAlgn="b"/>
                      <a:r>
                        <a:rPr lang="fr-BE" sz="1100" b="0" u="none" strike="noStrike">
                          <a:solidFill>
                            <a:srgbClr val="000000"/>
                          </a:solidFill>
                          <a:effectLst/>
                        </a:rPr>
                        <a:t>(149, 11)</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fr-BE" sz="1100" b="0" u="none" strike="noStrike">
                          <a:solidFill>
                            <a:srgbClr val="000000"/>
                          </a:solidFill>
                          <a:effectLst/>
                        </a:rPr>
                        <a:t>940GZZLUBNK</a:t>
                      </a:r>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03910095"/>
                  </a:ext>
                </a:extLst>
              </a:tr>
              <a:tr h="182880">
                <a:tc>
                  <a:txBody>
                    <a:bodyPr/>
                    <a:lstStyle/>
                    <a:p>
                      <a:pPr algn="l" fontAlgn="b"/>
                      <a:r>
                        <a:rPr lang="fr-BE" sz="1100" b="0" u="none" strike="noStrike">
                          <a:solidFill>
                            <a:srgbClr val="000000"/>
                          </a:solidFill>
                          <a:effectLst/>
                        </a:rPr>
                        <a:t>(202, 129)</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64554629"/>
                  </a:ext>
                </a:extLst>
              </a:tr>
              <a:tr h="182880">
                <a:tc>
                  <a:txBody>
                    <a:bodyPr/>
                    <a:lstStyle/>
                    <a:p>
                      <a:pPr algn="l" fontAlgn="b"/>
                      <a:r>
                        <a:rPr lang="fr-BE" sz="1100" b="0" u="none" strike="noStrike">
                          <a:solidFill>
                            <a:srgbClr val="000000"/>
                          </a:solidFill>
                          <a:effectLst/>
                        </a:rPr>
                        <a:t>(231, 94)</a:t>
                      </a:r>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fr-BE"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94116541"/>
                  </a:ext>
                </a:extLst>
              </a:tr>
            </a:tbl>
          </a:graphicData>
        </a:graphic>
      </p:graphicFrame>
    </p:spTree>
    <p:extLst>
      <p:ext uri="{BB962C8B-B14F-4D97-AF65-F5344CB8AC3E}">
        <p14:creationId xmlns:p14="http://schemas.microsoft.com/office/powerpoint/2010/main" val="2774092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 – KPIs</a:t>
            </a:r>
            <a:endParaRPr lang="fr-BE" dirty="0"/>
          </a:p>
        </p:txBody>
      </p:sp>
      <p:sp>
        <p:nvSpPr>
          <p:cNvPr id="4" name="TextBox 3">
            <a:extLst>
              <a:ext uri="{FF2B5EF4-FFF2-40B4-BE49-F238E27FC236}">
                <a16:creationId xmlns:a16="http://schemas.microsoft.com/office/drawing/2014/main" id="{61936B33-BB8B-D05F-291F-F6B4773821D1}"/>
              </a:ext>
            </a:extLst>
          </p:cNvPr>
          <p:cNvSpPr txBox="1"/>
          <p:nvPr/>
        </p:nvSpPr>
        <p:spPr>
          <a:xfrm>
            <a:off x="954156" y="1401417"/>
            <a:ext cx="10754140" cy="2031325"/>
          </a:xfrm>
          <a:prstGeom prst="rect">
            <a:avLst/>
          </a:prstGeom>
          <a:noFill/>
        </p:spPr>
        <p:txBody>
          <a:bodyPr wrap="square" rtlCol="0">
            <a:spAutoFit/>
          </a:bodyPr>
          <a:lstStyle/>
          <a:p>
            <a:r>
              <a:rPr lang="en-US" dirty="0"/>
              <a:t>The shortest path between Baker Street and Finchley Road is not its own edge.</a:t>
            </a:r>
          </a:p>
          <a:p>
            <a:endParaRPr lang="en-US" dirty="0"/>
          </a:p>
          <a:p>
            <a:r>
              <a:rPr lang="en-US" dirty="0"/>
              <a:t>Let's forget for a moment that the data is unrealistic, and pretend it is in fact what is happening.</a:t>
            </a:r>
          </a:p>
          <a:p>
            <a:endParaRPr lang="en-US" dirty="0"/>
          </a:p>
          <a:p>
            <a:r>
              <a:rPr lang="en-US" dirty="0"/>
              <a:t>From the journey time perspective, it the above mentioned will never be used. And, consequently,  it's rupture won't cause any distress. The same happen for the following edges:</a:t>
            </a:r>
          </a:p>
          <a:p>
            <a:endParaRPr lang="en-US" dirty="0"/>
          </a:p>
        </p:txBody>
      </p:sp>
    </p:spTree>
    <p:extLst>
      <p:ext uri="{BB962C8B-B14F-4D97-AF65-F5344CB8AC3E}">
        <p14:creationId xmlns:p14="http://schemas.microsoft.com/office/powerpoint/2010/main" val="2910003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 – KPIs – Operation </a:t>
            </a:r>
            <a:endParaRPr lang="fr-BE" dirty="0"/>
          </a:p>
        </p:txBody>
      </p:sp>
      <p:pic>
        <p:nvPicPr>
          <p:cNvPr id="6" name="Picture 5">
            <a:extLst>
              <a:ext uri="{FF2B5EF4-FFF2-40B4-BE49-F238E27FC236}">
                <a16:creationId xmlns:a16="http://schemas.microsoft.com/office/drawing/2014/main" id="{6975B2E6-7326-52BF-3C0D-77836BC0F342}"/>
              </a:ext>
            </a:extLst>
          </p:cNvPr>
          <p:cNvPicPr>
            <a:picLocks noChangeAspect="1"/>
          </p:cNvPicPr>
          <p:nvPr/>
        </p:nvPicPr>
        <p:blipFill>
          <a:blip r:embed="rId3"/>
          <a:stretch>
            <a:fillRect/>
          </a:stretch>
        </p:blipFill>
        <p:spPr>
          <a:xfrm>
            <a:off x="3560061" y="1925854"/>
            <a:ext cx="5535706" cy="3936503"/>
          </a:xfrm>
          <a:prstGeom prst="rect">
            <a:avLst/>
          </a:prstGeom>
        </p:spPr>
      </p:pic>
    </p:spTree>
    <p:extLst>
      <p:ext uri="{BB962C8B-B14F-4D97-AF65-F5344CB8AC3E}">
        <p14:creationId xmlns:p14="http://schemas.microsoft.com/office/powerpoint/2010/main" val="17536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6"/>
                                        </p:tgtEl>
                                      </p:cBhvr>
                                      <p:by x="70000" y="70000"/>
                                    </p:animScale>
                                  </p:childTnLst>
                                </p:cTn>
                              </p:par>
                              <p:par>
                                <p:cTn id="7" presetID="42" presetClass="path" presetSubtype="0" accel="50000" decel="50000" fill="hold" nodeType="withEffect">
                                  <p:stCondLst>
                                    <p:cond delay="0"/>
                                  </p:stCondLst>
                                  <p:childTnLst>
                                    <p:animMotion origin="layout" path="M -4.16667E-7 -4.07407E-6 L 0.328 -0.36851 " pathEditMode="relative" rAng="0" ptsTypes="AA">
                                      <p:cBhvr>
                                        <p:cTn id="8" dur="1000" fill="hold"/>
                                        <p:tgtEl>
                                          <p:spTgt spid="6"/>
                                        </p:tgtEl>
                                        <p:attrNameLst>
                                          <p:attrName>ppt_x</p:attrName>
                                          <p:attrName>ppt_y</p:attrName>
                                        </p:attrNameLst>
                                      </p:cBhvr>
                                      <p:rCtr x="16393" y="-184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 – Operation KPIs</a:t>
            </a:r>
            <a:endParaRPr lang="fr-BE" dirty="0"/>
          </a:p>
        </p:txBody>
      </p:sp>
      <p:sp>
        <p:nvSpPr>
          <p:cNvPr id="3" name="TextBox 2">
            <a:extLst>
              <a:ext uri="{FF2B5EF4-FFF2-40B4-BE49-F238E27FC236}">
                <a16:creationId xmlns:a16="http://schemas.microsoft.com/office/drawing/2014/main" id="{B789747B-83B5-3DDA-9E21-89A6D0E728EE}"/>
              </a:ext>
            </a:extLst>
          </p:cNvPr>
          <p:cNvSpPr txBox="1"/>
          <p:nvPr/>
        </p:nvSpPr>
        <p:spPr>
          <a:xfrm>
            <a:off x="838200" y="1506895"/>
            <a:ext cx="10619578" cy="4985980"/>
          </a:xfrm>
          <a:prstGeom prst="rect">
            <a:avLst/>
          </a:prstGeom>
          <a:noFill/>
        </p:spPr>
        <p:txBody>
          <a:bodyPr wrap="square">
            <a:spAutoFit/>
          </a:bodyPr>
          <a:lstStyle/>
          <a:p>
            <a:r>
              <a:rPr lang="en-US" sz="2400" u="sng" dirty="0">
                <a:solidFill>
                  <a:srgbClr val="C00000"/>
                </a:solidFill>
              </a:rPr>
              <a:t>Infra-Structure: </a:t>
            </a:r>
            <a:endParaRPr lang="en-US" sz="1600" dirty="0"/>
          </a:p>
          <a:p>
            <a:pPr marL="285750" indent="-285750">
              <a:buFont typeface="Arial" panose="020B0604020202020204" pitchFamily="34" charset="0"/>
              <a:buChar char="•"/>
            </a:pPr>
            <a:r>
              <a:rPr lang="en-US" dirty="0"/>
              <a:t>Segment </a:t>
            </a:r>
            <a:r>
              <a:rPr lang="en-US" u="sng" dirty="0"/>
              <a:t>Length</a:t>
            </a:r>
            <a:r>
              <a:rPr lang="en-US" dirty="0"/>
              <a:t> [km]</a:t>
            </a:r>
          </a:p>
          <a:p>
            <a:r>
              <a:rPr lang="en-US" sz="2400" u="sng" dirty="0">
                <a:solidFill>
                  <a:srgbClr val="C00000"/>
                </a:solidFill>
              </a:rPr>
              <a:t>Operation: </a:t>
            </a:r>
            <a:endParaRPr lang="en-US" sz="1600" u="sng" dirty="0">
              <a:solidFill>
                <a:srgbClr val="C00000"/>
              </a:solidFill>
            </a:endParaRPr>
          </a:p>
          <a:p>
            <a:pPr marL="342900" indent="-342900">
              <a:buFont typeface="Arial" panose="020B0604020202020204" pitchFamily="34" charset="0"/>
              <a:buChar char="•"/>
            </a:pPr>
            <a:r>
              <a:rPr lang="en-US" dirty="0"/>
              <a:t>Segment </a:t>
            </a:r>
            <a:r>
              <a:rPr lang="en-US" u="sng" dirty="0"/>
              <a:t>Speed</a:t>
            </a:r>
            <a:r>
              <a:rPr lang="en-US" dirty="0"/>
              <a:t> [km/h] = [Length] * 60 / [Time in minutes]</a:t>
            </a:r>
          </a:p>
          <a:p>
            <a:pPr marL="342900" indent="-342900">
              <a:buFont typeface="Arial" panose="020B0604020202020204" pitchFamily="34" charset="0"/>
              <a:buChar char="•"/>
            </a:pPr>
            <a:r>
              <a:rPr lang="en-US" dirty="0"/>
              <a:t>Segment </a:t>
            </a:r>
            <a:r>
              <a:rPr lang="en-US" u="sng" dirty="0"/>
              <a:t>Frequency</a:t>
            </a:r>
            <a:r>
              <a:rPr lang="en-US" dirty="0"/>
              <a:t> [Trains/h] = [#Trains per period] / [# Hour of Period]</a:t>
            </a:r>
          </a:p>
          <a:p>
            <a:r>
              <a:rPr lang="en-US" sz="2400" u="sng" dirty="0">
                <a:solidFill>
                  <a:srgbClr val="C00000"/>
                </a:solidFill>
              </a:rPr>
              <a:t>Period Average Traffic: </a:t>
            </a:r>
            <a:endParaRPr lang="en-US" sz="1600" u="sng" dirty="0">
              <a:solidFill>
                <a:srgbClr val="C00000"/>
              </a:solidFill>
            </a:endParaRPr>
          </a:p>
          <a:p>
            <a:pPr marL="342900" indent="-342900">
              <a:buFont typeface="Arial" panose="020B0604020202020204" pitchFamily="34" charset="0"/>
              <a:buChar char="•"/>
            </a:pPr>
            <a:r>
              <a:rPr lang="en-US" dirty="0"/>
              <a:t>Segment Hourly Average </a:t>
            </a:r>
            <a:r>
              <a:rPr lang="en-US" u="sng" dirty="0"/>
              <a:t>Passenger</a:t>
            </a:r>
            <a:r>
              <a:rPr lang="en-US" dirty="0"/>
              <a:t> [Passengers/h] = [# Passenger] / [# Hour of Period]</a:t>
            </a:r>
          </a:p>
          <a:p>
            <a:r>
              <a:rPr lang="en-US" sz="2400" u="sng" dirty="0">
                <a:solidFill>
                  <a:srgbClr val="C00000"/>
                </a:solidFill>
              </a:rPr>
              <a:t>Period Average Distance Travelled: </a:t>
            </a:r>
          </a:p>
          <a:p>
            <a:pPr marL="342900" indent="-342900">
              <a:buFont typeface="Arial" panose="020B0604020202020204" pitchFamily="34" charset="0"/>
              <a:buChar char="•"/>
            </a:pPr>
            <a:r>
              <a:rPr lang="en-US" dirty="0"/>
              <a:t>Segment Hourly Average Distance </a:t>
            </a:r>
            <a:r>
              <a:rPr lang="en-US" u="sng" dirty="0"/>
              <a:t>Travelled</a:t>
            </a:r>
            <a:r>
              <a:rPr lang="en-US" dirty="0"/>
              <a:t> [Passengers*km] = [Passengers] *[Length] </a:t>
            </a:r>
            <a:endParaRPr lang="en-US" sz="2400" dirty="0"/>
          </a:p>
          <a:p>
            <a:r>
              <a:rPr lang="en-US" sz="2400" u="sng" dirty="0">
                <a:solidFill>
                  <a:srgbClr val="C00000"/>
                </a:solidFill>
              </a:rPr>
              <a:t>Period Average Load: </a:t>
            </a:r>
            <a:endParaRPr lang="en-US" sz="1600" dirty="0"/>
          </a:p>
          <a:p>
            <a:pPr marL="342900" indent="-342900">
              <a:buFont typeface="Arial" panose="020B0604020202020204" pitchFamily="34" charset="0"/>
              <a:buChar char="•"/>
            </a:pPr>
            <a:r>
              <a:rPr lang="en-US" dirty="0"/>
              <a:t>Segment Hourly Average </a:t>
            </a:r>
            <a:r>
              <a:rPr lang="en-US" u="sng" dirty="0"/>
              <a:t>Load</a:t>
            </a:r>
            <a:r>
              <a:rPr lang="en-US" dirty="0"/>
              <a:t> [Passengers/Train] = [Passengers] / [Frequency] </a:t>
            </a:r>
          </a:p>
          <a:p>
            <a:r>
              <a:rPr lang="en-US" sz="2400" u="sng" dirty="0">
                <a:solidFill>
                  <a:srgbClr val="C00000"/>
                </a:solidFill>
              </a:rPr>
              <a:t>Period Average Flow: </a:t>
            </a:r>
            <a:endParaRPr lang="en-US" sz="1600" dirty="0"/>
          </a:p>
          <a:p>
            <a:pPr marL="342900" indent="-342900">
              <a:buFont typeface="Arial" panose="020B0604020202020204" pitchFamily="34" charset="0"/>
              <a:buChar char="•"/>
            </a:pPr>
            <a:r>
              <a:rPr lang="en-US" dirty="0"/>
              <a:t>Segment Hourly Average Flow [(Passengers/Train)*(km/h)] = [Load]*[Segment Speed]</a:t>
            </a:r>
          </a:p>
          <a:p>
            <a:r>
              <a:rPr lang="en-US" sz="2400" u="sng" dirty="0">
                <a:solidFill>
                  <a:srgbClr val="C00000"/>
                </a:solidFill>
              </a:rPr>
              <a:t>Period Average Efficiency: </a:t>
            </a:r>
            <a:endParaRPr lang="en-US" sz="1600" dirty="0"/>
          </a:p>
          <a:p>
            <a:pPr marL="342900" indent="-342900">
              <a:buFont typeface="Arial" panose="020B0604020202020204" pitchFamily="34" charset="0"/>
              <a:buChar char="•"/>
            </a:pPr>
            <a:r>
              <a:rPr lang="en-US" dirty="0"/>
              <a:t>Segment Hourly Average Efficiency [(Passengers/Train)*(km/h)] = [Load] * [Segment Speed] * [Length]</a:t>
            </a:r>
            <a:r>
              <a:rPr lang="en-US" sz="2400" dirty="0"/>
              <a:t>	</a:t>
            </a:r>
            <a:endParaRPr lang="fr-BE" sz="3200" dirty="0"/>
          </a:p>
        </p:txBody>
      </p:sp>
    </p:spTree>
    <p:extLst>
      <p:ext uri="{BB962C8B-B14F-4D97-AF65-F5344CB8AC3E}">
        <p14:creationId xmlns:p14="http://schemas.microsoft.com/office/powerpoint/2010/main" val="229114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 – End-User KPIs</a:t>
            </a:r>
            <a:endParaRPr lang="fr-BE" dirty="0"/>
          </a:p>
        </p:txBody>
      </p:sp>
      <p:sp>
        <p:nvSpPr>
          <p:cNvPr id="5" name="TextBox 4">
            <a:extLst>
              <a:ext uri="{FF2B5EF4-FFF2-40B4-BE49-F238E27FC236}">
                <a16:creationId xmlns:a16="http://schemas.microsoft.com/office/drawing/2014/main" id="{AA2CA487-7A93-4257-9238-973712B09319}"/>
              </a:ext>
            </a:extLst>
          </p:cNvPr>
          <p:cNvSpPr txBox="1"/>
          <p:nvPr/>
        </p:nvSpPr>
        <p:spPr>
          <a:xfrm>
            <a:off x="685800" y="1494678"/>
            <a:ext cx="10820400" cy="5139869"/>
          </a:xfrm>
          <a:prstGeom prst="rect">
            <a:avLst/>
          </a:prstGeom>
          <a:noFill/>
        </p:spPr>
        <p:txBody>
          <a:bodyPr wrap="square">
            <a:spAutoFit/>
          </a:bodyPr>
          <a:lstStyle/>
          <a:p>
            <a:r>
              <a:rPr lang="en-US" sz="3200" dirty="0">
                <a:hlinkClick r:id="rId3"/>
              </a:rPr>
              <a:t>Path With the Shortest Time</a:t>
            </a:r>
            <a:r>
              <a:rPr lang="en-US" sz="3200" dirty="0"/>
              <a:t>: </a:t>
            </a:r>
          </a:p>
          <a:p>
            <a:pPr marL="457200" indent="-457200">
              <a:buFont typeface="+mj-lt"/>
              <a:buAutoNum type="arabicParenR"/>
            </a:pPr>
            <a:r>
              <a:rPr lang="en-US" sz="2400" dirty="0"/>
              <a:t>Calculate the path with shortest time for all Origins &amp; Destinies;</a:t>
            </a:r>
          </a:p>
          <a:p>
            <a:pPr marL="457200" indent="-457200">
              <a:buFont typeface="+mj-lt"/>
              <a:buAutoNum type="arabicParenR"/>
            </a:pPr>
            <a:r>
              <a:rPr lang="en-US" sz="2400" dirty="0"/>
              <a:t>For each segment, generate a list all Origins &amp; Destinies connected;</a:t>
            </a:r>
          </a:p>
          <a:p>
            <a:pPr marL="457200" indent="-457200">
              <a:buFont typeface="+mj-lt"/>
              <a:buAutoNum type="arabicParenR"/>
            </a:pPr>
            <a:r>
              <a:rPr lang="en-US" sz="2400" dirty="0"/>
              <a:t>For each segment, calculate the Origins &amp; Destinies time ;</a:t>
            </a:r>
          </a:p>
          <a:p>
            <a:pPr marL="457200" indent="-457200">
              <a:buFont typeface="+mj-lt"/>
              <a:buAutoNum type="arabicParenR"/>
            </a:pPr>
            <a:r>
              <a:rPr lang="en-US" sz="2400" dirty="0"/>
              <a:t>For each segment, calculate the Origins &amp; Destinies traffic percentage;</a:t>
            </a:r>
          </a:p>
          <a:p>
            <a:r>
              <a:rPr lang="en-US" sz="3200" dirty="0">
                <a:hlinkClick r:id="rId3"/>
              </a:rPr>
              <a:t>Deviated Path With the Shortest Time</a:t>
            </a:r>
            <a:r>
              <a:rPr lang="en-US" sz="3200" dirty="0"/>
              <a:t>: </a:t>
            </a:r>
          </a:p>
          <a:p>
            <a:pPr marL="457200" indent="-457200">
              <a:buFont typeface="+mj-lt"/>
              <a:buAutoNum type="arabicParenR"/>
            </a:pPr>
            <a:r>
              <a:rPr lang="en-US" sz="2400" dirty="0"/>
              <a:t>Remove the segment</a:t>
            </a:r>
          </a:p>
          <a:p>
            <a:pPr marL="457200" indent="-457200">
              <a:buFont typeface="+mj-lt"/>
              <a:buAutoNum type="arabicParenR"/>
            </a:pPr>
            <a:r>
              <a:rPr lang="en-US" sz="2400" dirty="0"/>
              <a:t>For each Origins &amp; Destinies previously connected, re-calculate the time;</a:t>
            </a:r>
          </a:p>
          <a:p>
            <a:pPr marL="457200" indent="-457200">
              <a:buFont typeface="+mj-lt"/>
              <a:buAutoNum type="arabicParenR"/>
            </a:pPr>
            <a:r>
              <a:rPr lang="en-US" sz="2400" dirty="0"/>
              <a:t>For each Origins &amp; Destinies previously connected, calculate the increased time;</a:t>
            </a:r>
          </a:p>
          <a:p>
            <a:pPr marL="457200" indent="-457200">
              <a:buFont typeface="+mj-lt"/>
              <a:buAutoNum type="arabicParenR"/>
            </a:pPr>
            <a:r>
              <a:rPr lang="en-US" sz="2400" dirty="0"/>
              <a:t>Weight the increased time of each Origins &amp; Destinies by traffic percentage;</a:t>
            </a:r>
          </a:p>
          <a:p>
            <a:pPr marL="457200" indent="-457200">
              <a:buFont typeface="+mj-lt"/>
              <a:buAutoNum type="arabicParenR"/>
            </a:pPr>
            <a:r>
              <a:rPr lang="en-US" sz="2400" dirty="0"/>
              <a:t>Sum all Origins &amp; Destinies Weighted time and multiply by the segment traffic;</a:t>
            </a:r>
          </a:p>
          <a:p>
            <a:endParaRPr lang="en-US" sz="2400" dirty="0"/>
          </a:p>
          <a:p>
            <a:r>
              <a:rPr lang="en-US" sz="2400" dirty="0"/>
              <a:t>Human Time Distress per segment</a:t>
            </a:r>
            <a:endParaRPr lang="fr-BE" sz="3200" dirty="0"/>
          </a:p>
        </p:txBody>
      </p:sp>
      <p:pic>
        <p:nvPicPr>
          <p:cNvPr id="2050" name="Picture 2">
            <a:extLst>
              <a:ext uri="{FF2B5EF4-FFF2-40B4-BE49-F238E27FC236}">
                <a16:creationId xmlns:a16="http://schemas.microsoft.com/office/drawing/2014/main" id="{6DC558A5-46A9-96C7-119A-1B74F0B8EF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5132" y="1998456"/>
            <a:ext cx="3469341" cy="1983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955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a:t>
            </a:r>
            <a:endParaRPr lang="fr-BE" dirty="0"/>
          </a:p>
        </p:txBody>
      </p:sp>
      <p:pic>
        <p:nvPicPr>
          <p:cNvPr id="2050" name="Picture 2">
            <a:extLst>
              <a:ext uri="{FF2B5EF4-FFF2-40B4-BE49-F238E27FC236}">
                <a16:creationId xmlns:a16="http://schemas.microsoft.com/office/drawing/2014/main" id="{6DC558A5-46A9-96C7-119A-1B74F0B8E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5436" y="60326"/>
            <a:ext cx="3469341" cy="19832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A2E9E3A-926C-87AE-6656-314159BEC3FD}"/>
              </a:ext>
            </a:extLst>
          </p:cNvPr>
          <p:cNvSpPr txBox="1"/>
          <p:nvPr/>
        </p:nvSpPr>
        <p:spPr>
          <a:xfrm>
            <a:off x="197223" y="1862230"/>
            <a:ext cx="12151659" cy="4770537"/>
          </a:xfrm>
          <a:prstGeom prst="rect">
            <a:avLst/>
          </a:prstGeom>
          <a:noFill/>
        </p:spPr>
        <p:txBody>
          <a:bodyPr wrap="square">
            <a:spAutoFit/>
          </a:bodyPr>
          <a:lstStyle/>
          <a:p>
            <a:r>
              <a:rPr lang="en-US" sz="3200" dirty="0">
                <a:hlinkClick r:id="rId4"/>
              </a:rPr>
              <a:t>Path With the Shortest Time</a:t>
            </a:r>
            <a:r>
              <a:rPr lang="en-US" sz="3200" dirty="0"/>
              <a:t>: </a:t>
            </a:r>
            <a:endParaRPr lang="en-US" sz="2400" dirty="0"/>
          </a:p>
          <a:p>
            <a:pPr marL="457200" indent="-457200">
              <a:buFont typeface="+mj-lt"/>
              <a:buAutoNum type="arabicParenR"/>
            </a:pPr>
            <a:r>
              <a:rPr lang="en-US" sz="2400" dirty="0"/>
              <a:t>With all Origins and Destinies shortest path time:</a:t>
            </a:r>
          </a:p>
          <a:p>
            <a:pPr marL="457200" indent="-457200">
              <a:buFont typeface="+mj-lt"/>
              <a:buAutoNum type="arabicParenR"/>
            </a:pPr>
            <a:r>
              <a:rPr lang="en-US" sz="2400" dirty="0" err="1"/>
              <a:t>AB_time</a:t>
            </a:r>
            <a:r>
              <a:rPr lang="en-US" sz="2400" dirty="0"/>
              <a:t> = { OD_1=time_1, OD_2=time_2, OD_3=time_3, OD_4=time_4, OD_5=time_5 }</a:t>
            </a:r>
          </a:p>
          <a:p>
            <a:pPr marL="457200" indent="-457200">
              <a:buFont typeface="+mj-lt"/>
              <a:buAutoNum type="arabicParenR"/>
            </a:pPr>
            <a:r>
              <a:rPr lang="pl-PL" sz="2400" dirty="0"/>
              <a:t>AB = [ OD_1, OD_2, OD_3, OD_4, OD_5 ] </a:t>
            </a:r>
            <a:endParaRPr lang="en-US" sz="2400" dirty="0"/>
          </a:p>
          <a:p>
            <a:pPr marL="457200" indent="-457200">
              <a:buFont typeface="+mj-lt"/>
              <a:buAutoNum type="arabicParenR"/>
            </a:pPr>
            <a:r>
              <a:rPr lang="en-US" sz="2400" dirty="0" err="1"/>
              <a:t>AB_Traffic_weighted</a:t>
            </a:r>
            <a:r>
              <a:rPr lang="en-US" sz="2400" dirty="0"/>
              <a:t> = { OD_1=per1, OD_2=per2, OD_3=per4, OD_4=per4, OD_5=per5 }</a:t>
            </a:r>
          </a:p>
          <a:p>
            <a:r>
              <a:rPr lang="en-US" sz="3200" dirty="0">
                <a:hlinkClick r:id="rId4"/>
              </a:rPr>
              <a:t>Deviated Path With the Shortest Time</a:t>
            </a:r>
            <a:r>
              <a:rPr lang="en-US" sz="3200" dirty="0"/>
              <a:t>: </a:t>
            </a:r>
          </a:p>
          <a:p>
            <a:pPr marL="457200" indent="-457200">
              <a:buFont typeface="+mj-lt"/>
              <a:buAutoNum type="arabicParenR"/>
            </a:pPr>
            <a:r>
              <a:rPr lang="en-US" sz="2400" dirty="0"/>
              <a:t>Remove the segment</a:t>
            </a:r>
          </a:p>
          <a:p>
            <a:pPr marL="457200" indent="-457200">
              <a:buFont typeface="+mj-lt"/>
              <a:buAutoNum type="arabicParenR"/>
            </a:pPr>
            <a:r>
              <a:rPr lang="en-US" sz="2400" dirty="0" err="1"/>
              <a:t>AB_time</a:t>
            </a:r>
            <a:r>
              <a:rPr lang="en-US" sz="2400" dirty="0"/>
              <a:t>' = { OD_1=time_1', OD_2=time_2', OD_3=time_3', OD_4=time_4', OD_5=time_5’ } </a:t>
            </a:r>
          </a:p>
          <a:p>
            <a:pPr marL="457200" indent="-457200">
              <a:buFont typeface="+mj-lt"/>
              <a:buAutoNum type="arabicParenR"/>
            </a:pPr>
            <a:r>
              <a:rPr lang="en-US" sz="2400" dirty="0" err="1"/>
              <a:t>AB_delta</a:t>
            </a:r>
            <a:r>
              <a:rPr lang="en-US" sz="2400" dirty="0"/>
              <a:t> = { OD_1=delta _1, OD_2=delta _2, … , OD_5=delta _5} </a:t>
            </a:r>
          </a:p>
          <a:p>
            <a:pPr marL="457200" indent="-457200">
              <a:buFont typeface="+mj-lt"/>
              <a:buAutoNum type="arabicParenR"/>
            </a:pPr>
            <a:r>
              <a:rPr lang="en-US" sz="2400" dirty="0" err="1"/>
              <a:t>AB_weigthed_delta</a:t>
            </a:r>
            <a:r>
              <a:rPr lang="en-US" sz="2400" dirty="0"/>
              <a:t> = delta_1'*per1 + … + delta_5'*per5</a:t>
            </a:r>
          </a:p>
          <a:p>
            <a:pPr marL="457200" indent="-457200">
              <a:buFont typeface="+mj-lt"/>
              <a:buAutoNum type="arabicParenR"/>
            </a:pPr>
            <a:r>
              <a:rPr lang="en-US" sz="2400" dirty="0"/>
              <a:t>AB Human Distress = </a:t>
            </a:r>
            <a:r>
              <a:rPr lang="en-US" sz="2400" dirty="0" err="1"/>
              <a:t>AB_weigthed_delta</a:t>
            </a:r>
            <a:r>
              <a:rPr lang="en-US" sz="2400" dirty="0"/>
              <a:t> * traffic;</a:t>
            </a:r>
          </a:p>
          <a:p>
            <a:endParaRPr lang="en-US" sz="2400" dirty="0"/>
          </a:p>
        </p:txBody>
      </p:sp>
    </p:spTree>
    <p:extLst>
      <p:ext uri="{BB962C8B-B14F-4D97-AF65-F5344CB8AC3E}">
        <p14:creationId xmlns:p14="http://schemas.microsoft.com/office/powerpoint/2010/main" val="1795851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a:t>
            </a:r>
            <a:endParaRPr lang="fr-BE" dirty="0"/>
          </a:p>
        </p:txBody>
      </p:sp>
      <p:pic>
        <p:nvPicPr>
          <p:cNvPr id="2050" name="Picture 2">
            <a:extLst>
              <a:ext uri="{FF2B5EF4-FFF2-40B4-BE49-F238E27FC236}">
                <a16:creationId xmlns:a16="http://schemas.microsoft.com/office/drawing/2014/main" id="{6DC558A5-46A9-96C7-119A-1B74F0B8E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5436" y="60326"/>
            <a:ext cx="3469341" cy="19832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A2E9E3A-926C-87AE-6656-314159BEC3FD}"/>
              </a:ext>
            </a:extLst>
          </p:cNvPr>
          <p:cNvSpPr txBox="1"/>
          <p:nvPr/>
        </p:nvSpPr>
        <p:spPr>
          <a:xfrm>
            <a:off x="197223" y="1862230"/>
            <a:ext cx="12151659" cy="4770537"/>
          </a:xfrm>
          <a:prstGeom prst="rect">
            <a:avLst/>
          </a:prstGeom>
          <a:noFill/>
        </p:spPr>
        <p:txBody>
          <a:bodyPr wrap="square">
            <a:spAutoFit/>
          </a:bodyPr>
          <a:lstStyle/>
          <a:p>
            <a:r>
              <a:rPr lang="en-US" sz="3200" dirty="0">
                <a:hlinkClick r:id="rId4"/>
              </a:rPr>
              <a:t>Path With the Shortest Time</a:t>
            </a:r>
            <a:r>
              <a:rPr lang="en-US" sz="3200" dirty="0"/>
              <a:t>: </a:t>
            </a:r>
            <a:endParaRPr lang="en-US" sz="2400" dirty="0"/>
          </a:p>
          <a:p>
            <a:pPr marL="457200" indent="-457200">
              <a:buFont typeface="+mj-lt"/>
              <a:buAutoNum type="arabicParenR"/>
            </a:pPr>
            <a:r>
              <a:rPr lang="en-US" sz="2400" dirty="0"/>
              <a:t>With all Origins and Destinies shortest path time:</a:t>
            </a:r>
          </a:p>
          <a:p>
            <a:pPr marL="457200" indent="-457200">
              <a:buFont typeface="+mj-lt"/>
              <a:buAutoNum type="arabicParenR"/>
            </a:pPr>
            <a:r>
              <a:rPr lang="en-US" sz="2400" dirty="0" err="1"/>
              <a:t>AB_time</a:t>
            </a:r>
            <a:r>
              <a:rPr lang="en-US" sz="2400" dirty="0"/>
              <a:t> = { OD_1=time_1, OD_2=time_2, OD_3=time_3, OD_4=time_4, OD_5=time_5 }</a:t>
            </a:r>
          </a:p>
          <a:p>
            <a:pPr marL="457200" indent="-457200">
              <a:buFont typeface="+mj-lt"/>
              <a:buAutoNum type="arabicParenR"/>
            </a:pPr>
            <a:r>
              <a:rPr lang="pl-PL" sz="2400" dirty="0"/>
              <a:t>AB = [ OD_1, OD_2, OD_3, OD_4, OD_5 ] </a:t>
            </a:r>
            <a:endParaRPr lang="en-US" sz="2400" dirty="0"/>
          </a:p>
          <a:p>
            <a:pPr marL="457200" indent="-457200">
              <a:buFont typeface="+mj-lt"/>
              <a:buAutoNum type="arabicParenR"/>
            </a:pPr>
            <a:r>
              <a:rPr lang="en-US" sz="2400" dirty="0" err="1"/>
              <a:t>AB_Traffic_weighted</a:t>
            </a:r>
            <a:r>
              <a:rPr lang="en-US" sz="2400" dirty="0"/>
              <a:t> = { OD_1=per1, OD_2=per2, OD_3=per4, OD_4=per4, OD_5=per5 }</a:t>
            </a:r>
          </a:p>
          <a:p>
            <a:r>
              <a:rPr lang="en-US" sz="3200" dirty="0">
                <a:hlinkClick r:id="rId4"/>
              </a:rPr>
              <a:t>Deviated Path With the Shortest Time</a:t>
            </a:r>
            <a:r>
              <a:rPr lang="en-US" sz="3200" dirty="0"/>
              <a:t>: </a:t>
            </a:r>
          </a:p>
          <a:p>
            <a:pPr marL="457200" indent="-457200">
              <a:buFont typeface="+mj-lt"/>
              <a:buAutoNum type="arabicParenR"/>
            </a:pPr>
            <a:r>
              <a:rPr lang="en-US" sz="2400" dirty="0"/>
              <a:t>Remove the segment</a:t>
            </a:r>
          </a:p>
          <a:p>
            <a:pPr marL="457200" indent="-457200">
              <a:buFont typeface="+mj-lt"/>
              <a:buAutoNum type="arabicParenR"/>
            </a:pPr>
            <a:r>
              <a:rPr lang="en-US" sz="2400" dirty="0" err="1"/>
              <a:t>AB_time</a:t>
            </a:r>
            <a:r>
              <a:rPr lang="en-US" sz="2400" dirty="0"/>
              <a:t>' = { OD_1=time_1', OD_2=time_2', OD_3=time_3', OD_4=time_4', OD_5=time_5’ } </a:t>
            </a:r>
          </a:p>
          <a:p>
            <a:pPr marL="457200" indent="-457200">
              <a:buFont typeface="+mj-lt"/>
              <a:buAutoNum type="arabicParenR"/>
            </a:pPr>
            <a:r>
              <a:rPr lang="en-US" sz="2400" dirty="0" err="1"/>
              <a:t>AB_delta</a:t>
            </a:r>
            <a:r>
              <a:rPr lang="en-US" sz="2400" dirty="0"/>
              <a:t> = { OD_1=delta _1, OD_2=delta _2, … , OD_5=delta _5} </a:t>
            </a:r>
          </a:p>
          <a:p>
            <a:pPr marL="457200" indent="-457200">
              <a:buFont typeface="+mj-lt"/>
              <a:buAutoNum type="arabicParenR"/>
            </a:pPr>
            <a:r>
              <a:rPr lang="en-US" sz="2400" dirty="0" err="1"/>
              <a:t>AB_weigthed_delta</a:t>
            </a:r>
            <a:r>
              <a:rPr lang="en-US" sz="2400" dirty="0"/>
              <a:t> = delta_1'*per1 + … + delta_5'*per5</a:t>
            </a:r>
          </a:p>
          <a:p>
            <a:pPr marL="457200" indent="-457200">
              <a:buFont typeface="+mj-lt"/>
              <a:buAutoNum type="arabicParenR"/>
            </a:pPr>
            <a:r>
              <a:rPr lang="en-US" sz="2400" dirty="0"/>
              <a:t>AB Human Distress = </a:t>
            </a:r>
            <a:r>
              <a:rPr lang="en-US" sz="2400" dirty="0" err="1"/>
              <a:t>AB_weigthed_delta</a:t>
            </a:r>
            <a:r>
              <a:rPr lang="en-US" sz="2400" dirty="0"/>
              <a:t> * traffic;</a:t>
            </a:r>
          </a:p>
          <a:p>
            <a:endParaRPr lang="en-US" sz="2400" dirty="0"/>
          </a:p>
        </p:txBody>
      </p:sp>
    </p:spTree>
    <p:extLst>
      <p:ext uri="{BB962C8B-B14F-4D97-AF65-F5344CB8AC3E}">
        <p14:creationId xmlns:p14="http://schemas.microsoft.com/office/powerpoint/2010/main" val="1351881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 – Filter</a:t>
            </a:r>
            <a:endParaRPr lang="fr-B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A2CA487-7A93-4257-9238-973712B09319}"/>
                  </a:ext>
                </a:extLst>
              </p:cNvPr>
              <p:cNvSpPr txBox="1"/>
              <p:nvPr/>
            </p:nvSpPr>
            <p:spPr>
              <a:xfrm>
                <a:off x="838200" y="1485714"/>
                <a:ext cx="10820400" cy="4470326"/>
              </a:xfrm>
              <a:prstGeom prst="rect">
                <a:avLst/>
              </a:prstGeom>
              <a:noFill/>
            </p:spPr>
            <p:txBody>
              <a:bodyPr wrap="square">
                <a:spAutoFit/>
              </a:bodyPr>
              <a:lstStyle/>
              <a:p>
                <a:r>
                  <a:rPr lang="en-US" sz="3200" dirty="0">
                    <a:hlinkClick r:id="rId3"/>
                  </a:rPr>
                  <a:t>Disparity Filter:</a:t>
                </a:r>
                <a:endParaRPr lang="en-US" sz="3200" dirty="0"/>
              </a:p>
              <a:p>
                <a:pPr marL="342900" indent="-342900">
                  <a:buFont typeface="Arial" panose="020B0604020202020204" pitchFamily="34" charset="0"/>
                  <a:buChar char="•"/>
                </a:pPr>
                <a:r>
                  <a:rPr lang="en-US" sz="2400" dirty="0"/>
                  <a:t>Values [0,1]:</a:t>
                </a:r>
              </a:p>
              <a:p>
                <a:r>
                  <a:rPr lang="en-US" sz="2400" dirty="0"/>
                  <a:t>	Max-min norm: (X – Min)/(Max – Min)</a:t>
                </a:r>
              </a:p>
              <a:p>
                <a:pPr marL="342900" indent="-342900">
                  <a:buFont typeface="Arial" panose="020B0604020202020204" pitchFamily="34" charset="0"/>
                  <a:buChar char="•"/>
                </a:pPr>
                <a:r>
                  <a:rPr lang="en-US" sz="2400" dirty="0"/>
                  <a:t>The null model is used to define anomalous fluctuations the disparity measure of a given node in a pure random case.</a:t>
                </a:r>
              </a:p>
              <a:p>
                <a:endParaRPr lang="fr-BE" dirty="0">
                  <a:solidFill>
                    <a:srgbClr val="262626"/>
                  </a:solidFill>
                  <a:latin typeface="Open Sans" panose="020B0606030504020204" pitchFamily="34" charset="0"/>
                </a:endParaRPr>
              </a:p>
              <a:p>
                <a:r>
                  <a:rPr lang="fr-BE" b="0" i="0" dirty="0" err="1">
                    <a:solidFill>
                      <a:srgbClr val="262626"/>
                    </a:solidFill>
                    <a:effectLst/>
                    <a:latin typeface="Open Sans" panose="020B0606030504020204" pitchFamily="34" charset="0"/>
                  </a:rPr>
                  <a:t>probability</a:t>
                </a:r>
                <a:r>
                  <a:rPr lang="fr-BE" b="0" i="0" dirty="0">
                    <a:solidFill>
                      <a:srgbClr val="262626"/>
                    </a:solidFill>
                    <a:effectLst/>
                    <a:latin typeface="Open Sans" panose="020B0606030504020204" pitchFamily="34" charset="0"/>
                  </a:rPr>
                  <a:t> </a:t>
                </a:r>
                <a:r>
                  <a:rPr lang="fr-BE" b="0" i="0" dirty="0" err="1">
                    <a:solidFill>
                      <a:srgbClr val="262626"/>
                    </a:solidFill>
                    <a:effectLst/>
                    <a:latin typeface="Open Sans" panose="020B0606030504020204" pitchFamily="34" charset="0"/>
                  </a:rPr>
                  <a:t>density</a:t>
                </a:r>
                <a:r>
                  <a:rPr lang="fr-BE" b="0" i="0" dirty="0">
                    <a:solidFill>
                      <a:srgbClr val="262626"/>
                    </a:solidFill>
                    <a:effectLst/>
                    <a:latin typeface="Open Sans" panose="020B0606030504020204" pitchFamily="34" charset="0"/>
                  </a:rPr>
                  <a:t> </a:t>
                </a:r>
                <a:r>
                  <a:rPr lang="fr-BE" b="0" i="0" dirty="0" err="1">
                    <a:solidFill>
                      <a:srgbClr val="262626"/>
                    </a:solidFill>
                    <a:effectLst/>
                    <a:latin typeface="Open Sans" panose="020B0606030504020204" pitchFamily="34" charset="0"/>
                  </a:rPr>
                  <a:t>funct</a:t>
                </a:r>
                <a:r>
                  <a:rPr lang="en-US" dirty="0">
                    <a:solidFill>
                      <a:srgbClr val="262626"/>
                    </a:solidFill>
                    <a:latin typeface="Open Sans" panose="020B0606030504020204" pitchFamily="34" charset="0"/>
                  </a:rPr>
                  <a:t>ion = </a:t>
                </a:r>
                <a:r>
                  <a:rPr lang="el-GR" sz="1800" b="0" i="1" u="none" strike="noStrike" baseline="0" dirty="0">
                    <a:latin typeface="MTMI"/>
                  </a:rPr>
                  <a:t>ρ</a:t>
                </a:r>
                <a:r>
                  <a:rPr lang="el-GR" sz="1800" b="0" i="0" u="none" strike="noStrike" baseline="0" dirty="0">
                    <a:latin typeface="Dutch801BT-Roman"/>
                  </a:rPr>
                  <a:t>(</a:t>
                </a:r>
                <a:r>
                  <a:rPr lang="fr-BE" sz="1800" b="0" i="1" u="none" strike="noStrike" baseline="0" dirty="0">
                    <a:latin typeface="Dutch801BT-Italic"/>
                  </a:rPr>
                  <a:t>x</a:t>
                </a:r>
                <a:r>
                  <a:rPr lang="fr-BE" sz="1800" b="0" i="0" u="none" strike="noStrike" baseline="0" dirty="0">
                    <a:latin typeface="Dutch801BT-Roman"/>
                  </a:rPr>
                  <a:t>)</a:t>
                </a:r>
                <a:r>
                  <a:rPr lang="fr-BE" sz="1800" b="0" i="1" u="none" strike="noStrike" baseline="0" dirty="0">
                    <a:latin typeface="Dutch801BT-Italic"/>
                  </a:rPr>
                  <a:t>dx </a:t>
                </a:r>
                <a:r>
                  <a:rPr lang="fr-BE" sz="1800" b="0" i="0" u="none" strike="noStrike" baseline="0" dirty="0">
                    <a:latin typeface="MTSYN"/>
                  </a:rPr>
                  <a:t>= </a:t>
                </a:r>
                <a14:m>
                  <m:oMath xmlns:m="http://schemas.openxmlformats.org/officeDocument/2006/math">
                    <m:sSup>
                      <m:sSupPr>
                        <m:ctrlPr>
                          <a:rPr lang="pt-BR" sz="1800" b="0" i="1" u="none" strike="noStrike" baseline="0" smtClean="0">
                            <a:latin typeface="Cambria Math" panose="02040503050406030204" pitchFamily="18" charset="0"/>
                          </a:rPr>
                        </m:ctrlPr>
                      </m:sSupPr>
                      <m:e>
                        <m:d>
                          <m:dPr>
                            <m:ctrlPr>
                              <a:rPr lang="pt-BR" i="1">
                                <a:latin typeface="Cambria Math" panose="02040503050406030204" pitchFamily="18" charset="0"/>
                              </a:rPr>
                            </m:ctrlPr>
                          </m:dPr>
                          <m:e>
                            <m:r>
                              <a:rPr lang="fr-BE" b="0" i="1" smtClean="0">
                                <a:latin typeface="Cambria Math" panose="02040503050406030204" pitchFamily="18" charset="0"/>
                              </a:rPr>
                              <m:t>𝑘</m:t>
                            </m:r>
                            <m:r>
                              <a:rPr lang="fr-BE" i="1">
                                <a:latin typeface="Cambria Math" panose="02040503050406030204" pitchFamily="18" charset="0"/>
                              </a:rPr>
                              <m:t>−</m:t>
                            </m:r>
                            <m:r>
                              <a:rPr lang="fr-BE" b="0" i="1" smtClean="0">
                                <a:latin typeface="Cambria Math" panose="02040503050406030204" pitchFamily="18" charset="0"/>
                              </a:rPr>
                              <m:t>1</m:t>
                            </m:r>
                          </m:e>
                        </m:d>
                        <m:d>
                          <m:dPr>
                            <m:ctrlPr>
                              <a:rPr lang="pt-BR" sz="1800" b="0" i="1" u="none" strike="noStrike" baseline="0" smtClean="0">
                                <a:latin typeface="Cambria Math" panose="02040503050406030204" pitchFamily="18" charset="0"/>
                              </a:rPr>
                            </m:ctrlPr>
                          </m:dPr>
                          <m:e>
                            <m:r>
                              <a:rPr lang="pt-BR" sz="1800" b="0" i="1" u="none" strike="noStrike" baseline="0" smtClean="0">
                                <a:latin typeface="Cambria Math" panose="02040503050406030204" pitchFamily="18" charset="0"/>
                              </a:rPr>
                              <m:t>1</m:t>
                            </m:r>
                            <m:r>
                              <a:rPr lang="fr-BE" sz="1800" b="0" i="1" u="none" strike="noStrike" baseline="0" smtClean="0">
                                <a:latin typeface="Cambria Math" panose="02040503050406030204" pitchFamily="18" charset="0"/>
                              </a:rPr>
                              <m:t>−</m:t>
                            </m:r>
                            <m:r>
                              <a:rPr lang="pt-BR" sz="1800" b="0" i="1" u="none" strike="noStrike" baseline="0" smtClean="0">
                                <a:latin typeface="Cambria Math" panose="02040503050406030204" pitchFamily="18" charset="0"/>
                              </a:rPr>
                              <m:t>𝑥</m:t>
                            </m:r>
                          </m:e>
                        </m:d>
                      </m:e>
                      <m:sup>
                        <m:r>
                          <m:rPr>
                            <m:nor/>
                          </m:rPr>
                          <a:rPr lang="fr-BE" i="1" dirty="0">
                            <a:latin typeface="Dutch801BT-Italic"/>
                          </a:rPr>
                          <m:t>k</m:t>
                        </m:r>
                        <m:r>
                          <m:rPr>
                            <m:nor/>
                          </m:rPr>
                          <a:rPr lang="fr-BE" dirty="0">
                            <a:latin typeface="MTSYN"/>
                          </a:rPr>
                          <m:t>−</m:t>
                        </m:r>
                        <m:r>
                          <m:rPr>
                            <m:nor/>
                          </m:rPr>
                          <a:rPr lang="fr-BE" dirty="0">
                            <a:latin typeface="Dutch801BT-Roman"/>
                          </a:rPr>
                          <m:t>2</m:t>
                        </m:r>
                      </m:sup>
                    </m:sSup>
                    <m:r>
                      <m:rPr>
                        <m:nor/>
                      </m:rPr>
                      <a:rPr lang="fr-BE" i="1" dirty="0">
                        <a:latin typeface="Dutch801BT-Italic"/>
                      </a:rPr>
                      <m:t>dx</m:t>
                    </m:r>
                  </m:oMath>
                </a14:m>
                <a:r>
                  <a:rPr lang="fr-BE" sz="1800" b="0" i="0" u="none" strike="noStrike" baseline="0" dirty="0">
                    <a:latin typeface="Dutch801BT-Roman"/>
                  </a:rPr>
                  <a:t>,</a:t>
                </a:r>
                <a:endParaRPr lang="fr-BE" b="0" i="1" dirty="0">
                  <a:solidFill>
                    <a:srgbClr val="262626"/>
                  </a:solidFill>
                  <a:effectLst/>
                  <a:latin typeface="Open Sans" panose="020B0606030504020204" pitchFamily="34" charset="0"/>
                </a:endParaRPr>
              </a:p>
              <a:p>
                <a:endParaRPr lang="en-US" dirty="0">
                  <a:solidFill>
                    <a:srgbClr val="262626"/>
                  </a:solidFill>
                  <a:latin typeface="Open Sans" panose="020B0606030504020204" pitchFamily="34" charset="0"/>
                </a:endParaRPr>
              </a:p>
              <a:p>
                <a:r>
                  <a:rPr lang="en-US" dirty="0">
                    <a:solidFill>
                      <a:srgbClr val="262626"/>
                    </a:solidFill>
                    <a:latin typeface="Open Sans" panose="020B0606030504020204" pitchFamily="34" charset="0"/>
                  </a:rPr>
                  <a:t>α</a:t>
                </a:r>
                <a:r>
                  <a:rPr lang="en-US" i="1" baseline="-25000" dirty="0" err="1">
                    <a:solidFill>
                      <a:srgbClr val="262626"/>
                    </a:solidFill>
                    <a:latin typeface="Open Sans" panose="020B0606030504020204" pitchFamily="34" charset="0"/>
                  </a:rPr>
                  <a:t>ij</a:t>
                </a:r>
                <a:r>
                  <a:rPr lang="fr-BE" sz="1800" b="0" i="1" u="none" strike="noStrike" baseline="0" dirty="0">
                    <a:latin typeface="Dutch801BT-Italic"/>
                  </a:rPr>
                  <a:t> </a:t>
                </a:r>
                <a:r>
                  <a:rPr lang="fr-BE" sz="1800" b="0" i="0" u="none" strike="noStrike" baseline="0" dirty="0">
                    <a:latin typeface="MTSYN"/>
                  </a:rPr>
                  <a:t>= </a:t>
                </a:r>
                <a:r>
                  <a:rPr lang="fr-BE" sz="1800" b="0" i="0" u="none" strike="noStrike" baseline="0" dirty="0">
                    <a:latin typeface="Dutch801BT-Roman"/>
                  </a:rPr>
                  <a:t>1 </a:t>
                </a:r>
                <a:r>
                  <a:rPr lang="fr-BE" sz="1800" b="0" i="0" u="none" strike="noStrike" baseline="0" dirty="0">
                    <a:latin typeface="MTSYN"/>
                  </a:rPr>
                  <a:t>− </a:t>
                </a:r>
                <a:r>
                  <a:rPr lang="fr-BE" sz="1800" b="0" i="0" u="none" strike="noStrike" baseline="0" dirty="0">
                    <a:latin typeface="Dutch801BT-Roman"/>
                  </a:rPr>
                  <a:t>(</a:t>
                </a:r>
                <a:r>
                  <a:rPr lang="fr-BE" sz="1800" b="0" i="1" u="none" strike="noStrike" baseline="0" dirty="0">
                    <a:latin typeface="Dutch801BT-Italic"/>
                  </a:rPr>
                  <a:t>k </a:t>
                </a:r>
                <a:r>
                  <a:rPr lang="fr-BE" sz="1800" b="0" i="0" u="none" strike="noStrike" baseline="0" dirty="0">
                    <a:latin typeface="MTSYN"/>
                  </a:rPr>
                  <a:t>− </a:t>
                </a:r>
                <a:r>
                  <a:rPr lang="fr-BE" sz="1800" b="0" i="0" u="none" strike="noStrike" baseline="0" dirty="0">
                    <a:latin typeface="Dutch801BT-Roman"/>
                  </a:rPr>
                  <a:t>1)</a:t>
                </a:r>
                <a14:m>
                  <m:oMath xmlns:m="http://schemas.openxmlformats.org/officeDocument/2006/math">
                    <m:nary>
                      <m:naryPr>
                        <m:ctrlPr>
                          <a:rPr lang="fr-BE" sz="1800" b="0" i="1" u="none" strike="noStrike" baseline="0" smtClean="0">
                            <a:latin typeface="Cambria Math" panose="02040503050406030204" pitchFamily="18" charset="0"/>
                          </a:rPr>
                        </m:ctrlPr>
                      </m:naryPr>
                      <m:sub>
                        <m:r>
                          <m:rPr>
                            <m:nor/>
                          </m:rPr>
                          <a:rPr lang="fr-BE" dirty="0">
                            <a:latin typeface="Dutch801BT-Roman"/>
                          </a:rPr>
                          <m:t>0 </m:t>
                        </m:r>
                      </m:sub>
                      <m:sup>
                        <m:r>
                          <m:rPr>
                            <m:nor/>
                          </m:rPr>
                          <a:rPr lang="fr-BE" i="1" dirty="0">
                            <a:latin typeface="Dutch801BT-Italic"/>
                          </a:rPr>
                          <m:t>pij</m:t>
                        </m:r>
                        <m:r>
                          <m:rPr>
                            <m:nor/>
                          </m:rPr>
                          <a:rPr lang="fr-BE" i="1" dirty="0">
                            <a:latin typeface="Dutch801BT-Italic"/>
                          </a:rPr>
                          <m:t> </m:t>
                        </m:r>
                      </m:sup>
                      <m:e>
                        <m:sSup>
                          <m:sSupPr>
                            <m:ctrlPr>
                              <a:rPr lang="pt-BR" i="1">
                                <a:latin typeface="Cambria Math" panose="02040503050406030204" pitchFamily="18" charset="0"/>
                              </a:rPr>
                            </m:ctrlPr>
                          </m:sSupPr>
                          <m:e>
                            <m:d>
                              <m:dPr>
                                <m:ctrlPr>
                                  <a:rPr lang="pt-BR" i="1">
                                    <a:latin typeface="Cambria Math" panose="02040503050406030204" pitchFamily="18" charset="0"/>
                                  </a:rPr>
                                </m:ctrlPr>
                              </m:dPr>
                              <m:e>
                                <m:r>
                                  <a:rPr lang="pt-BR" i="1">
                                    <a:latin typeface="Cambria Math" panose="02040503050406030204" pitchFamily="18" charset="0"/>
                                  </a:rPr>
                                  <m:t>1</m:t>
                                </m:r>
                                <m:r>
                                  <a:rPr lang="fr-BE" i="1">
                                    <a:latin typeface="Cambria Math" panose="02040503050406030204" pitchFamily="18" charset="0"/>
                                  </a:rPr>
                                  <m:t>−</m:t>
                                </m:r>
                                <m:r>
                                  <a:rPr lang="pt-BR" i="1">
                                    <a:latin typeface="Cambria Math" panose="02040503050406030204" pitchFamily="18" charset="0"/>
                                  </a:rPr>
                                  <m:t>𝑥</m:t>
                                </m:r>
                              </m:e>
                            </m:d>
                          </m:e>
                          <m:sup>
                            <m:r>
                              <m:rPr>
                                <m:nor/>
                              </m:rPr>
                              <a:rPr lang="fr-BE" i="1" dirty="0">
                                <a:latin typeface="Dutch801BT-Italic"/>
                              </a:rPr>
                              <m:t>k</m:t>
                            </m:r>
                            <m:r>
                              <m:rPr>
                                <m:nor/>
                              </m:rPr>
                              <a:rPr lang="fr-BE" dirty="0">
                                <a:latin typeface="MTSYN"/>
                              </a:rPr>
                              <m:t>−</m:t>
                            </m:r>
                            <m:r>
                              <m:rPr>
                                <m:nor/>
                              </m:rPr>
                              <a:rPr lang="fr-BE" dirty="0">
                                <a:latin typeface="Dutch801BT-Roman"/>
                              </a:rPr>
                              <m:t>2</m:t>
                            </m:r>
                          </m:sup>
                        </m:sSup>
                        <m:r>
                          <m:rPr>
                            <m:nor/>
                          </m:rPr>
                          <a:rPr lang="fr-BE" i="1" dirty="0">
                            <a:latin typeface="Dutch801BT-Italic"/>
                          </a:rPr>
                          <m:t>dx</m:t>
                        </m:r>
                      </m:e>
                    </m:nary>
                  </m:oMath>
                </a14:m>
                <a:endParaRPr lang="fr-BE" sz="1800" b="0" i="0" u="none" strike="noStrike" baseline="0" dirty="0">
                  <a:latin typeface="Dutch801BT-Roman"/>
                </a:endParaRPr>
              </a:p>
              <a:p>
                <a:pPr algn="l"/>
                <a:endParaRPr lang="fr-BE" sz="1800" b="0" i="0" u="none" strike="noStrike" baseline="0" dirty="0">
                  <a:latin typeface="MTEX"/>
                </a:endParaRPr>
              </a:p>
              <a:p>
                <a:r>
                  <a:rPr lang="en-US" b="0" i="0" dirty="0">
                    <a:solidFill>
                      <a:srgbClr val="262626"/>
                    </a:solidFill>
                    <a:effectLst/>
                    <a:latin typeface="Open Sans" panose="020B0606030504020204" pitchFamily="34" charset="0"/>
                  </a:rPr>
                  <a:t>α</a:t>
                </a:r>
                <a:r>
                  <a:rPr lang="en-US" b="0" i="1" baseline="-25000" dirty="0" err="1">
                    <a:solidFill>
                      <a:srgbClr val="262626"/>
                    </a:solidFill>
                    <a:effectLst/>
                    <a:latin typeface="Open Sans" panose="020B0606030504020204" pitchFamily="34" charset="0"/>
                  </a:rPr>
                  <a:t>ij</a:t>
                </a:r>
                <a:r>
                  <a:rPr lang="en-US" b="0" i="0" dirty="0">
                    <a:solidFill>
                      <a:srgbClr val="262626"/>
                    </a:solidFill>
                    <a:effectLst/>
                    <a:latin typeface="Open Sans" panose="020B0606030504020204" pitchFamily="34" charset="0"/>
                  </a:rPr>
                  <a:t> = </a:t>
                </a:r>
                <a:r>
                  <a:rPr lang="fr-BE" b="0" i="0" dirty="0" err="1">
                    <a:solidFill>
                      <a:srgbClr val="262626"/>
                    </a:solidFill>
                    <a:effectLst/>
                    <a:latin typeface="Open Sans" panose="020B0606030504020204" pitchFamily="34" charset="0"/>
                  </a:rPr>
                  <a:t>node</a:t>
                </a:r>
                <a:r>
                  <a:rPr lang="fr-BE" b="0" i="0" dirty="0">
                    <a:solidFill>
                      <a:srgbClr val="262626"/>
                    </a:solidFill>
                    <a:effectLst/>
                    <a:latin typeface="Open Sans" panose="020B0606030504020204" pitchFamily="34" charset="0"/>
                  </a:rPr>
                  <a:t> of the </a:t>
                </a:r>
                <a:r>
                  <a:rPr lang="fr-BE" b="0" i="0" dirty="0" err="1">
                    <a:solidFill>
                      <a:srgbClr val="262626"/>
                    </a:solidFill>
                    <a:effectLst/>
                    <a:latin typeface="Open Sans" panose="020B0606030504020204" pitchFamily="34" charset="0"/>
                  </a:rPr>
                  <a:t>probability</a:t>
                </a:r>
                <a:r>
                  <a:rPr lang="fr-BE" b="0" i="0" dirty="0">
                    <a:solidFill>
                      <a:srgbClr val="262626"/>
                    </a:solidFill>
                    <a:effectLst/>
                    <a:latin typeface="Open Sans" panose="020B0606030504020204" pitchFamily="34" charset="0"/>
                  </a:rPr>
                  <a:t> </a:t>
                </a:r>
              </a:p>
              <a:p>
                <a:r>
                  <a:rPr lang="fr-BE" b="0" i="1" dirty="0" err="1">
                    <a:solidFill>
                      <a:srgbClr val="262626"/>
                    </a:solidFill>
                    <a:effectLst/>
                    <a:latin typeface="Open Sans" panose="020B0606030504020204" pitchFamily="34" charset="0"/>
                  </a:rPr>
                  <a:t>p</a:t>
                </a:r>
                <a:r>
                  <a:rPr lang="fr-BE" b="0" i="1" baseline="-25000" dirty="0" err="1">
                    <a:solidFill>
                      <a:srgbClr val="262626"/>
                    </a:solidFill>
                    <a:effectLst/>
                    <a:latin typeface="Open Sans" panose="020B0606030504020204" pitchFamily="34" charset="0"/>
                  </a:rPr>
                  <a:t>ij</a:t>
                </a:r>
                <a:r>
                  <a:rPr lang="fr-BE" b="0" i="0" dirty="0">
                    <a:solidFill>
                      <a:srgbClr val="262626"/>
                    </a:solidFill>
                    <a:effectLst/>
                    <a:latin typeface="Open Sans" panose="020B0606030504020204" pitchFamily="34" charset="0"/>
                  </a:rPr>
                  <a:t> = </a:t>
                </a:r>
                <a:r>
                  <a:rPr lang="fr-BE" b="0" i="0" dirty="0" err="1">
                    <a:solidFill>
                      <a:srgbClr val="262626"/>
                    </a:solidFill>
                    <a:effectLst/>
                    <a:latin typeface="Open Sans" panose="020B0606030504020204" pitchFamily="34" charset="0"/>
                  </a:rPr>
                  <a:t>normalized</a:t>
                </a:r>
                <a:r>
                  <a:rPr lang="fr-BE" b="0" i="0" dirty="0">
                    <a:solidFill>
                      <a:srgbClr val="262626"/>
                    </a:solidFill>
                    <a:effectLst/>
                    <a:latin typeface="Open Sans" panose="020B0606030504020204" pitchFamily="34" charset="0"/>
                  </a:rPr>
                  <a:t> </a:t>
                </a:r>
                <a:r>
                  <a:rPr lang="fr-BE" b="0" i="0" dirty="0" err="1">
                    <a:solidFill>
                      <a:srgbClr val="262626"/>
                    </a:solidFill>
                    <a:effectLst/>
                    <a:latin typeface="Open Sans" panose="020B0606030504020204" pitchFamily="34" charset="0"/>
                  </a:rPr>
                  <a:t>weight</a:t>
                </a:r>
                <a:r>
                  <a:rPr lang="fr-BE" b="0" i="0" dirty="0">
                    <a:solidFill>
                      <a:srgbClr val="262626"/>
                    </a:solidFill>
                    <a:effectLst/>
                    <a:latin typeface="Open Sans" panose="020B0606030504020204" pitchFamily="34" charset="0"/>
                  </a:rPr>
                  <a:t> </a:t>
                </a:r>
              </a:p>
              <a:p>
                <a:pPr algn="l"/>
                <a:endParaRPr lang="fr-BE" sz="1800" b="0" i="0" u="none" strike="noStrike" baseline="0" dirty="0">
                  <a:latin typeface="MTEX"/>
                </a:endParaRPr>
              </a:p>
            </p:txBody>
          </p:sp>
        </mc:Choice>
        <mc:Fallback xmlns="">
          <p:sp>
            <p:nvSpPr>
              <p:cNvPr id="5" name="TextBox 4">
                <a:extLst>
                  <a:ext uri="{FF2B5EF4-FFF2-40B4-BE49-F238E27FC236}">
                    <a16:creationId xmlns:a16="http://schemas.microsoft.com/office/drawing/2014/main" id="{AA2CA487-7A93-4257-9238-973712B09319}"/>
                  </a:ext>
                </a:extLst>
              </p:cNvPr>
              <p:cNvSpPr txBox="1">
                <a:spLocks noRot="1" noChangeAspect="1" noMove="1" noResize="1" noEditPoints="1" noAdjustHandles="1" noChangeArrowheads="1" noChangeShapeType="1" noTextEdit="1"/>
              </p:cNvSpPr>
              <p:nvPr/>
            </p:nvSpPr>
            <p:spPr>
              <a:xfrm>
                <a:off x="838200" y="1485714"/>
                <a:ext cx="10820400" cy="4470326"/>
              </a:xfrm>
              <a:prstGeom prst="rect">
                <a:avLst/>
              </a:prstGeom>
              <a:blipFill>
                <a:blip r:embed="rId4"/>
                <a:stretch>
                  <a:fillRect l="-1465" t="-1774" r="-732"/>
                </a:stretch>
              </a:blipFill>
            </p:spPr>
            <p:txBody>
              <a:bodyPr/>
              <a:lstStyle/>
              <a:p>
                <a:r>
                  <a:rPr lang="fr-BE">
                    <a:noFill/>
                  </a:rPr>
                  <a:t> </a:t>
                </a:r>
              </a:p>
            </p:txBody>
          </p:sp>
        </mc:Fallback>
      </mc:AlternateContent>
    </p:spTree>
    <p:extLst>
      <p:ext uri="{BB962C8B-B14F-4D97-AF65-F5344CB8AC3E}">
        <p14:creationId xmlns:p14="http://schemas.microsoft.com/office/powerpoint/2010/main" val="312899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a:t>
            </a:r>
            <a:endParaRPr lang="fr-BE"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A2CA487-7A93-4257-9238-973712B09319}"/>
                  </a:ext>
                </a:extLst>
              </p:cNvPr>
              <p:cNvSpPr txBox="1"/>
              <p:nvPr/>
            </p:nvSpPr>
            <p:spPr>
              <a:xfrm>
                <a:off x="838200" y="1485714"/>
                <a:ext cx="10820400" cy="4098879"/>
              </a:xfrm>
              <a:prstGeom prst="rect">
                <a:avLst/>
              </a:prstGeom>
              <a:noFill/>
            </p:spPr>
            <p:txBody>
              <a:bodyPr wrap="square">
                <a:spAutoFit/>
              </a:bodyPr>
              <a:lstStyle/>
              <a:p>
                <a:r>
                  <a:rPr lang="en-US" sz="3200" dirty="0">
                    <a:hlinkClick r:id="rId3"/>
                  </a:rPr>
                  <a:t>Gloss:</a:t>
                </a:r>
                <a:endParaRPr lang="en-US" sz="3200" dirty="0"/>
              </a:p>
              <a:p>
                <a:pPr marL="342900" indent="-342900">
                  <a:buFont typeface="Arial" panose="020B0604020202020204" pitchFamily="34" charset="0"/>
                  <a:buChar char="•"/>
                </a:pPr>
                <a:r>
                  <a:rPr lang="en-US" sz="2400" dirty="0"/>
                  <a:t>Values [0,1]:</a:t>
                </a:r>
              </a:p>
              <a:p>
                <a:r>
                  <a:rPr lang="en-US" sz="2400" dirty="0"/>
                  <a:t>	Max-min norm: (X – Min)/(Max – Min)</a:t>
                </a:r>
              </a:p>
              <a:p>
                <a:pPr marL="342900" indent="-342900">
                  <a:buFont typeface="Arial" panose="020B0604020202020204" pitchFamily="34" charset="0"/>
                  <a:buChar char="•"/>
                </a:pPr>
                <a:r>
                  <a:rPr lang="en-US" sz="2400" dirty="0"/>
                  <a:t>The natural solution is a global null model, which accounts for the full topology of the network, while preserving the heterogeneity of the weight distribution. In this paper we propose the Global Statistical Significance (</a:t>
                </a:r>
                <a:r>
                  <a:rPr lang="en-US" sz="2400" dirty="0" err="1"/>
                  <a:t>GloSS</a:t>
                </a:r>
                <a:r>
                  <a:rPr lang="en-US" sz="2400" dirty="0"/>
                  <a:t>) filter, which satisfies these constraints.</a:t>
                </a:r>
              </a:p>
              <a:p>
                <a:pPr marL="457200" indent="-457200">
                  <a:buFontTx/>
                  <a:buChar char="-"/>
                </a:pPr>
                <a:endParaRPr lang="en-US" sz="2400" dirty="0"/>
              </a:p>
              <a:p>
                <a:r>
                  <a:rPr lang="en-US" sz="1800" b="0" i="1" u="none" strike="noStrike" baseline="0" dirty="0" err="1">
                    <a:latin typeface="MTMI"/>
                  </a:rPr>
                  <a:t>Wij</a:t>
                </a:r>
                <a:r>
                  <a:rPr lang="en-US" sz="1800" b="0" i="1" u="none" strike="noStrike" baseline="0" dirty="0">
                    <a:latin typeface="MTMI"/>
                  </a:rPr>
                  <a:t>: </a:t>
                </a:r>
                <a:r>
                  <a:rPr lang="en-US" sz="1800" b="0" i="0" u="none" strike="noStrike" baseline="0" dirty="0">
                    <a:latin typeface="Times-Roman"/>
                  </a:rPr>
                  <a:t>indicates the weight of the edge joining vertices </a:t>
                </a:r>
                <a:r>
                  <a:rPr lang="en-US" sz="1800" b="0" i="1" u="none" strike="noStrike" baseline="0" dirty="0" err="1">
                    <a:latin typeface="MTMI"/>
                  </a:rPr>
                  <a:t>i</a:t>
                </a:r>
                <a:r>
                  <a:rPr lang="en-US" sz="1800" b="0" i="1" u="none" strike="noStrike" baseline="0" dirty="0">
                    <a:latin typeface="MTMI"/>
                  </a:rPr>
                  <a:t> </a:t>
                </a:r>
                <a:r>
                  <a:rPr lang="en-US" sz="1800" b="0" i="0" u="none" strike="noStrike" baseline="0" dirty="0">
                    <a:latin typeface="Times-Roman"/>
                  </a:rPr>
                  <a:t>and </a:t>
                </a:r>
                <a:r>
                  <a:rPr lang="en-US" sz="1800" b="0" i="1" u="none" strike="noStrike" baseline="0" dirty="0">
                    <a:latin typeface="MTMI"/>
                  </a:rPr>
                  <a:t>j.</a:t>
                </a:r>
              </a:p>
              <a:p>
                <a:pPr algn="l"/>
                <a:r>
                  <a:rPr lang="en-US" i="1" dirty="0">
                    <a:solidFill>
                      <a:srgbClr val="000000"/>
                    </a:solidFill>
                    <a:latin typeface="MTMI"/>
                  </a:rPr>
                  <a:t>S</a:t>
                </a:r>
                <a:r>
                  <a:rPr lang="en-US" sz="1800" b="0" i="1" u="none" strike="noStrike" baseline="0" dirty="0">
                    <a:solidFill>
                      <a:srgbClr val="000000"/>
                    </a:solidFill>
                    <a:latin typeface="MTMI"/>
                  </a:rPr>
                  <a:t>i : </a:t>
                </a:r>
                <a:r>
                  <a:rPr lang="en-US" sz="1800" b="0" i="0" u="none" strike="noStrike" baseline="0" dirty="0">
                    <a:solidFill>
                      <a:srgbClr val="000000"/>
                    </a:solidFill>
                    <a:latin typeface="Times-Roman"/>
                  </a:rPr>
                  <a:t>strength of vertex </a:t>
                </a:r>
                <a:r>
                  <a:rPr lang="en-US" sz="1800" b="0" i="1" u="none" strike="noStrike" baseline="0" dirty="0" err="1">
                    <a:solidFill>
                      <a:srgbClr val="000000"/>
                    </a:solidFill>
                    <a:latin typeface="MTMI"/>
                  </a:rPr>
                  <a:t>i</a:t>
                </a:r>
                <a:r>
                  <a:rPr lang="en-US" sz="1800" b="0" i="1" u="none" strike="noStrike" baseline="0" dirty="0">
                    <a:solidFill>
                      <a:srgbClr val="000000"/>
                    </a:solidFill>
                    <a:latin typeface="MTMI"/>
                  </a:rPr>
                  <a:t> </a:t>
                </a:r>
                <a:r>
                  <a:rPr lang="en-US" sz="1800" b="0" i="0" u="none" strike="noStrike" baseline="0" dirty="0">
                    <a:solidFill>
                      <a:srgbClr val="000000"/>
                    </a:solidFill>
                    <a:latin typeface="Times-Roman"/>
                  </a:rPr>
                  <a:t>is the sum of the weights of the edges incident on </a:t>
                </a:r>
                <a:r>
                  <a:rPr lang="en-US" sz="1800" b="0" i="1" u="none" strike="noStrike" baseline="0" dirty="0">
                    <a:solidFill>
                      <a:srgbClr val="000000"/>
                    </a:solidFill>
                    <a:latin typeface="MTMI"/>
                  </a:rPr>
                  <a:t>i</a:t>
                </a:r>
                <a:r>
                  <a:rPr lang="en-US" sz="1800" b="0" i="0" u="none" strike="noStrike" baseline="0" dirty="0">
                    <a:solidFill>
                      <a:srgbClr val="000000"/>
                    </a:solidFill>
                    <a:latin typeface="Times-Roman"/>
                  </a:rPr>
                  <a:t>:</a:t>
                </a:r>
              </a:p>
              <a:p>
                <a:r>
                  <a:rPr lang="fr-BE" i="1" dirty="0">
                    <a:latin typeface="MTMI"/>
                  </a:rPr>
                  <a:t>S</a:t>
                </a:r>
                <a:r>
                  <a:rPr lang="fr-BE" sz="1800" b="0" i="1" u="none" strike="noStrike" baseline="0" dirty="0">
                    <a:latin typeface="MTMI"/>
                  </a:rPr>
                  <a:t>i </a:t>
                </a:r>
                <a:r>
                  <a:rPr lang="fr-BE" sz="1800" b="0" i="0" u="none" strike="noStrike" baseline="0" dirty="0">
                    <a:latin typeface="MTSY"/>
                  </a:rPr>
                  <a:t>=</a:t>
                </a:r>
                <a14:m>
                  <m:oMath xmlns:m="http://schemas.openxmlformats.org/officeDocument/2006/math">
                    <m:nary>
                      <m:naryPr>
                        <m:chr m:val="∑"/>
                        <m:ctrlPr>
                          <a:rPr lang="pt-BR" sz="1800" b="0" i="1" u="none" strike="noStrike" baseline="0" smtClean="0">
                            <a:latin typeface="Cambria Math" panose="02040503050406030204" pitchFamily="18" charset="0"/>
                          </a:rPr>
                        </m:ctrlPr>
                      </m:naryPr>
                      <m:sub>
                        <m:r>
                          <m:rPr>
                            <m:brk m:alnAt="23"/>
                          </m:rPr>
                          <a:rPr lang="fr-BE" sz="1800" b="0" i="1" u="none" strike="noStrike" baseline="0" smtClean="0">
                            <a:latin typeface="Cambria Math" panose="02040503050406030204" pitchFamily="18" charset="0"/>
                          </a:rPr>
                          <m:t>𝑗</m:t>
                        </m:r>
                      </m:sub>
                      <m:sup>
                        <m:r>
                          <a:rPr lang="fr-BE" sz="1800" b="0" i="1" u="none" strike="noStrike" baseline="0" smtClean="0">
                            <a:latin typeface="Cambria Math" panose="02040503050406030204" pitchFamily="18" charset="0"/>
                          </a:rPr>
                          <m:t> </m:t>
                        </m:r>
                      </m:sup>
                      <m:e>
                        <m:r>
                          <m:rPr>
                            <m:nor/>
                          </m:rPr>
                          <a:rPr lang="fr-BE" i="1" dirty="0">
                            <a:latin typeface="MTMI"/>
                          </a:rPr>
                          <m:t>wi</m:t>
                        </m:r>
                        <m:r>
                          <a:rPr lang="fr-BE" b="0" i="1" dirty="0" smtClean="0">
                            <a:latin typeface="Cambria Math" panose="02040503050406030204" pitchFamily="18" charset="0"/>
                          </a:rPr>
                          <m:t>𝑗</m:t>
                        </m:r>
                      </m:e>
                    </m:nary>
                  </m:oMath>
                </a14:m>
                <a:endParaRPr lang="fr-BE" dirty="0"/>
              </a:p>
            </p:txBody>
          </p:sp>
        </mc:Choice>
        <mc:Fallback xmlns="">
          <p:sp>
            <p:nvSpPr>
              <p:cNvPr id="5" name="TextBox 4">
                <a:extLst>
                  <a:ext uri="{FF2B5EF4-FFF2-40B4-BE49-F238E27FC236}">
                    <a16:creationId xmlns:a16="http://schemas.microsoft.com/office/drawing/2014/main" id="{AA2CA487-7A93-4257-9238-973712B09319}"/>
                  </a:ext>
                </a:extLst>
              </p:cNvPr>
              <p:cNvSpPr txBox="1">
                <a:spLocks noRot="1" noChangeAspect="1" noMove="1" noResize="1" noEditPoints="1" noAdjustHandles="1" noChangeArrowheads="1" noChangeShapeType="1" noTextEdit="1"/>
              </p:cNvSpPr>
              <p:nvPr/>
            </p:nvSpPr>
            <p:spPr>
              <a:xfrm>
                <a:off x="838200" y="1485714"/>
                <a:ext cx="10820400" cy="4098879"/>
              </a:xfrm>
              <a:prstGeom prst="rect">
                <a:avLst/>
              </a:prstGeom>
              <a:blipFill>
                <a:blip r:embed="rId4"/>
                <a:stretch>
                  <a:fillRect l="-1465" t="-1935" b="-13690"/>
                </a:stretch>
              </a:blipFill>
            </p:spPr>
            <p:txBody>
              <a:bodyPr/>
              <a:lstStyle/>
              <a:p>
                <a:r>
                  <a:rPr lang="fr-BE">
                    <a:noFill/>
                  </a:rPr>
                  <a:t> </a:t>
                </a:r>
              </a:p>
            </p:txBody>
          </p:sp>
        </mc:Fallback>
      </mc:AlternateContent>
    </p:spTree>
    <p:extLst>
      <p:ext uri="{BB962C8B-B14F-4D97-AF65-F5344CB8AC3E}">
        <p14:creationId xmlns:p14="http://schemas.microsoft.com/office/powerpoint/2010/main" val="2688096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 – </a:t>
            </a:r>
            <a:r>
              <a:rPr lang="en-US" dirty="0" err="1"/>
              <a:t>Comparisson</a:t>
            </a:r>
            <a:r>
              <a:rPr lang="en-US" dirty="0"/>
              <a:t> </a:t>
            </a:r>
            <a:endParaRPr lang="fr-BE" dirty="0"/>
          </a:p>
        </p:txBody>
      </p:sp>
      <p:sp>
        <p:nvSpPr>
          <p:cNvPr id="5" name="TextBox 4">
            <a:extLst>
              <a:ext uri="{FF2B5EF4-FFF2-40B4-BE49-F238E27FC236}">
                <a16:creationId xmlns:a16="http://schemas.microsoft.com/office/drawing/2014/main" id="{AA2CA487-7A93-4257-9238-973712B09319}"/>
              </a:ext>
            </a:extLst>
          </p:cNvPr>
          <p:cNvSpPr txBox="1"/>
          <p:nvPr/>
        </p:nvSpPr>
        <p:spPr>
          <a:xfrm>
            <a:off x="838200" y="1485714"/>
            <a:ext cx="10820400" cy="954107"/>
          </a:xfrm>
          <a:prstGeom prst="rect">
            <a:avLst/>
          </a:prstGeom>
          <a:noFill/>
        </p:spPr>
        <p:txBody>
          <a:bodyPr wrap="square">
            <a:spAutoFit/>
          </a:bodyPr>
          <a:lstStyle/>
          <a:p>
            <a:pPr marL="0" indent="0">
              <a:buFont typeface="Wingdings" panose="05000000000000000000" pitchFamily="2" charset="2"/>
              <a:buNone/>
            </a:pPr>
            <a:r>
              <a:rPr lang="en-US" sz="3200" dirty="0">
                <a:hlinkClick r:id="rId3"/>
              </a:rPr>
              <a:t>Comparison Method:</a:t>
            </a:r>
            <a:endParaRPr lang="en-US" sz="3200" dirty="0"/>
          </a:p>
          <a:p>
            <a:pPr marL="457200" indent="-457200">
              <a:buFontTx/>
              <a:buChar char="-"/>
            </a:pPr>
            <a:r>
              <a:rPr lang="en-US" sz="2400" dirty="0"/>
              <a:t>Kendall correlation coefficient</a:t>
            </a:r>
            <a:endParaRPr lang="fr-BE" sz="3200" dirty="0"/>
          </a:p>
        </p:txBody>
      </p:sp>
    </p:spTree>
    <p:extLst>
      <p:ext uri="{BB962C8B-B14F-4D97-AF65-F5344CB8AC3E}">
        <p14:creationId xmlns:p14="http://schemas.microsoft.com/office/powerpoint/2010/main" val="3603890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Chp.4 - Modelling</a:t>
            </a:r>
            <a:endParaRPr lang="fr-BE" dirty="0"/>
          </a:p>
        </p:txBody>
      </p:sp>
      <p:pic>
        <p:nvPicPr>
          <p:cNvPr id="5" name="Picture 4">
            <a:extLst>
              <a:ext uri="{FF2B5EF4-FFF2-40B4-BE49-F238E27FC236}">
                <a16:creationId xmlns:a16="http://schemas.microsoft.com/office/drawing/2014/main" id="{E5B807A3-C215-444C-9CF9-24FC1D8B565B}"/>
              </a:ext>
            </a:extLst>
          </p:cNvPr>
          <p:cNvPicPr>
            <a:picLocks noChangeAspect="1"/>
          </p:cNvPicPr>
          <p:nvPr/>
        </p:nvPicPr>
        <p:blipFill>
          <a:blip r:embed="rId3"/>
          <a:stretch>
            <a:fillRect/>
          </a:stretch>
        </p:blipFill>
        <p:spPr>
          <a:xfrm>
            <a:off x="6918955" y="2844088"/>
            <a:ext cx="4921530" cy="2821677"/>
          </a:xfrm>
          <a:prstGeom prst="rect">
            <a:avLst/>
          </a:prstGeom>
        </p:spPr>
      </p:pic>
      <p:pic>
        <p:nvPicPr>
          <p:cNvPr id="1032" name="Picture 8">
            <a:extLst>
              <a:ext uri="{FF2B5EF4-FFF2-40B4-BE49-F238E27FC236}">
                <a16:creationId xmlns:a16="http://schemas.microsoft.com/office/drawing/2014/main" id="{3E0027DD-4153-4257-BC3C-65CEC71D3B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515" y="4200842"/>
            <a:ext cx="5291759" cy="24898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D0B51982-F0E9-507F-6E59-10723F6981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515" y="1556583"/>
            <a:ext cx="5231345" cy="2644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154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Chp.4 – Modelling – Centrality by mode</a:t>
            </a:r>
            <a:endParaRPr lang="fr-BE" dirty="0"/>
          </a:p>
        </p:txBody>
      </p:sp>
    </p:spTree>
    <p:extLst>
      <p:ext uri="{BB962C8B-B14F-4D97-AF65-F5344CB8AC3E}">
        <p14:creationId xmlns:p14="http://schemas.microsoft.com/office/powerpoint/2010/main" val="900605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Chp.5 - Results</a:t>
            </a:r>
            <a:endParaRPr lang="fr-BE" dirty="0"/>
          </a:p>
        </p:txBody>
      </p:sp>
      <p:sp>
        <p:nvSpPr>
          <p:cNvPr id="5" name="TextBox 4">
            <a:extLst>
              <a:ext uri="{FF2B5EF4-FFF2-40B4-BE49-F238E27FC236}">
                <a16:creationId xmlns:a16="http://schemas.microsoft.com/office/drawing/2014/main" id="{1C70F5EB-D628-4D33-90C3-908BAEAACF37}"/>
              </a:ext>
            </a:extLst>
          </p:cNvPr>
          <p:cNvSpPr txBox="1"/>
          <p:nvPr/>
        </p:nvSpPr>
        <p:spPr>
          <a:xfrm>
            <a:off x="958970" y="1759610"/>
            <a:ext cx="6883400" cy="646331"/>
          </a:xfrm>
          <a:prstGeom prst="rect">
            <a:avLst/>
          </a:prstGeom>
          <a:noFill/>
        </p:spPr>
        <p:txBody>
          <a:bodyPr wrap="square">
            <a:spAutoFit/>
          </a:bodyPr>
          <a:lstStyle/>
          <a:p>
            <a:pPr marL="171450" indent="-171450">
              <a:buFont typeface="Wingdings" panose="05000000000000000000" pitchFamily="2" charset="2"/>
              <a:buChar char="à"/>
            </a:pPr>
            <a:r>
              <a:rPr lang="en-US" dirty="0">
                <a:sym typeface="Wingdings" panose="05000000000000000000" pitchFamily="2" charset="2"/>
              </a:rPr>
              <a:t>Toy disparity and ranking: speed and distance</a:t>
            </a:r>
          </a:p>
          <a:p>
            <a:pPr marL="171450" indent="-171450">
              <a:buFontTx/>
              <a:buChar char="-"/>
            </a:pPr>
            <a:r>
              <a:rPr lang="en-US" dirty="0">
                <a:sym typeface="Wingdings" panose="05000000000000000000" pitchFamily="2" charset="2"/>
              </a:rPr>
              <a:t>(DLR, </a:t>
            </a:r>
            <a:r>
              <a:rPr lang="en-US" dirty="0" err="1">
                <a:sym typeface="Wingdings" panose="05000000000000000000" pitchFamily="2" charset="2"/>
              </a:rPr>
              <a:t>OverGround</a:t>
            </a:r>
            <a:r>
              <a:rPr lang="en-US" dirty="0">
                <a:sym typeface="Wingdings" panose="05000000000000000000" pitchFamily="2" charset="2"/>
              </a:rPr>
              <a:t>, Tube)</a:t>
            </a:r>
          </a:p>
        </p:txBody>
      </p:sp>
    </p:spTree>
    <p:extLst>
      <p:ext uri="{BB962C8B-B14F-4D97-AF65-F5344CB8AC3E}">
        <p14:creationId xmlns:p14="http://schemas.microsoft.com/office/powerpoint/2010/main" val="831078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Chp.5 - Results</a:t>
            </a:r>
            <a:endParaRPr lang="fr-BE" dirty="0"/>
          </a:p>
        </p:txBody>
      </p:sp>
      <p:sp>
        <p:nvSpPr>
          <p:cNvPr id="5" name="TextBox 4">
            <a:extLst>
              <a:ext uri="{FF2B5EF4-FFF2-40B4-BE49-F238E27FC236}">
                <a16:creationId xmlns:a16="http://schemas.microsoft.com/office/drawing/2014/main" id="{1C70F5EB-D628-4D33-90C3-908BAEAACF37}"/>
              </a:ext>
            </a:extLst>
          </p:cNvPr>
          <p:cNvSpPr txBox="1"/>
          <p:nvPr/>
        </p:nvSpPr>
        <p:spPr>
          <a:xfrm>
            <a:off x="958970" y="1759610"/>
            <a:ext cx="68834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Traffic</a:t>
            </a:r>
          </a:p>
          <a:p>
            <a:pPr marL="171450" indent="-171450">
              <a:buFontTx/>
              <a:buChar char="-"/>
            </a:pPr>
            <a:r>
              <a:rPr lang="en-US" dirty="0">
                <a:sym typeface="Wingdings" panose="05000000000000000000" pitchFamily="2" charset="2"/>
              </a:rPr>
              <a:t>Enter/Exists in stations (</a:t>
            </a:r>
            <a:r>
              <a:rPr lang="en-US" dirty="0" err="1">
                <a:sym typeface="Wingdings" panose="05000000000000000000" pitchFamily="2" charset="2"/>
              </a:rPr>
              <a:t>Networkx</a:t>
            </a:r>
            <a:r>
              <a:rPr lang="en-US" dirty="0">
                <a:sym typeface="Wingdings" panose="05000000000000000000" pitchFamily="2" charset="2"/>
              </a:rPr>
              <a:t>)</a:t>
            </a:r>
          </a:p>
        </p:txBody>
      </p:sp>
    </p:spTree>
    <p:extLst>
      <p:ext uri="{BB962C8B-B14F-4D97-AF65-F5344CB8AC3E}">
        <p14:creationId xmlns:p14="http://schemas.microsoft.com/office/powerpoint/2010/main" val="2043830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Chp.5 - Results</a:t>
            </a:r>
            <a:endParaRPr lang="fr-BE" dirty="0"/>
          </a:p>
        </p:txBody>
      </p:sp>
      <p:sp>
        <p:nvSpPr>
          <p:cNvPr id="5" name="TextBox 4">
            <a:extLst>
              <a:ext uri="{FF2B5EF4-FFF2-40B4-BE49-F238E27FC236}">
                <a16:creationId xmlns:a16="http://schemas.microsoft.com/office/drawing/2014/main" id="{1C70F5EB-D628-4D33-90C3-908BAEAACF37}"/>
              </a:ext>
            </a:extLst>
          </p:cNvPr>
          <p:cNvSpPr txBox="1"/>
          <p:nvPr/>
        </p:nvSpPr>
        <p:spPr>
          <a:xfrm>
            <a:off x="958970" y="1759610"/>
            <a:ext cx="6883400" cy="923330"/>
          </a:xfrm>
          <a:prstGeom prst="rect">
            <a:avLst/>
          </a:prstGeom>
          <a:noFill/>
        </p:spPr>
        <p:txBody>
          <a:bodyPr wrap="square">
            <a:spAutoFit/>
          </a:bodyPr>
          <a:lstStyle/>
          <a:p>
            <a:pPr marL="171450" indent="-171450">
              <a:buFont typeface="Wingdings" panose="05000000000000000000" pitchFamily="2" charset="2"/>
              <a:buChar char="à"/>
            </a:pPr>
            <a:r>
              <a:rPr lang="en-US" dirty="0">
                <a:sym typeface="Wingdings" panose="05000000000000000000" pitchFamily="2" charset="2"/>
              </a:rPr>
              <a:t>Inbound &amp; Outbound Traffic: Morning (5-7) x Evening (19-22) </a:t>
            </a:r>
          </a:p>
          <a:p>
            <a:pPr marL="171450" indent="-171450">
              <a:buFontTx/>
              <a:buChar char="-"/>
            </a:pPr>
            <a:r>
              <a:rPr lang="en-US" dirty="0">
                <a:sym typeface="Wingdings" panose="05000000000000000000" pitchFamily="2" charset="2"/>
              </a:rPr>
              <a:t>(DLR, </a:t>
            </a:r>
            <a:r>
              <a:rPr lang="en-US" dirty="0" err="1">
                <a:sym typeface="Wingdings" panose="05000000000000000000" pitchFamily="2" charset="2"/>
              </a:rPr>
              <a:t>OverGround</a:t>
            </a:r>
            <a:r>
              <a:rPr lang="en-US" dirty="0">
                <a:sym typeface="Wingdings" panose="05000000000000000000" pitchFamily="2" charset="2"/>
              </a:rPr>
              <a:t>, Tube) </a:t>
            </a:r>
          </a:p>
          <a:p>
            <a:pPr marL="171450" indent="-171450">
              <a:buFontTx/>
              <a:buChar char="-"/>
            </a:pPr>
            <a:r>
              <a:rPr lang="en-US" dirty="0">
                <a:sym typeface="Wingdings" panose="05000000000000000000" pitchFamily="2" charset="2"/>
              </a:rPr>
              <a:t>MTT, FRI, SAT and SUN</a:t>
            </a:r>
          </a:p>
        </p:txBody>
      </p:sp>
    </p:spTree>
    <p:extLst>
      <p:ext uri="{BB962C8B-B14F-4D97-AF65-F5344CB8AC3E}">
        <p14:creationId xmlns:p14="http://schemas.microsoft.com/office/powerpoint/2010/main" val="4061708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Chp.5 - Results</a:t>
            </a:r>
            <a:endParaRPr lang="fr-BE" dirty="0"/>
          </a:p>
        </p:txBody>
      </p:sp>
      <p:sp>
        <p:nvSpPr>
          <p:cNvPr id="5" name="TextBox 4">
            <a:extLst>
              <a:ext uri="{FF2B5EF4-FFF2-40B4-BE49-F238E27FC236}">
                <a16:creationId xmlns:a16="http://schemas.microsoft.com/office/drawing/2014/main" id="{1C70F5EB-D628-4D33-90C3-908BAEAACF37}"/>
              </a:ext>
            </a:extLst>
          </p:cNvPr>
          <p:cNvSpPr txBox="1"/>
          <p:nvPr/>
        </p:nvSpPr>
        <p:spPr>
          <a:xfrm>
            <a:off x="958970" y="1759610"/>
            <a:ext cx="6883400" cy="1200329"/>
          </a:xfrm>
          <a:prstGeom prst="rect">
            <a:avLst/>
          </a:prstGeom>
          <a:noFill/>
        </p:spPr>
        <p:txBody>
          <a:bodyPr wrap="square">
            <a:spAutoFit/>
          </a:bodyPr>
          <a:lstStyle/>
          <a:p>
            <a:pPr marL="171450" indent="-171450">
              <a:buFont typeface="Wingdings" panose="05000000000000000000" pitchFamily="2" charset="2"/>
              <a:buChar char="à"/>
            </a:pPr>
            <a:r>
              <a:rPr lang="en-US" dirty="0">
                <a:sym typeface="Wingdings" panose="05000000000000000000" pitchFamily="2" charset="2"/>
              </a:rPr>
              <a:t>Operational: Speed &amp; Frequency</a:t>
            </a:r>
          </a:p>
          <a:p>
            <a:pPr marL="171450" indent="-171450">
              <a:buFontTx/>
              <a:buChar char="-"/>
            </a:pPr>
            <a:r>
              <a:rPr lang="en-US" dirty="0">
                <a:sym typeface="Wingdings" panose="05000000000000000000" pitchFamily="2" charset="2"/>
              </a:rPr>
              <a:t>Histogram (charts)</a:t>
            </a:r>
          </a:p>
          <a:p>
            <a:pPr marL="171450" indent="-171450">
              <a:buFontTx/>
              <a:buChar char="-"/>
            </a:pPr>
            <a:r>
              <a:rPr lang="en-US" dirty="0">
                <a:sym typeface="Wingdings" panose="05000000000000000000" pitchFamily="2" charset="2"/>
              </a:rPr>
              <a:t>Maps (</a:t>
            </a:r>
            <a:r>
              <a:rPr lang="en-US" dirty="0" err="1">
                <a:sym typeface="Wingdings" panose="05000000000000000000" pitchFamily="2" charset="2"/>
              </a:rPr>
              <a:t>Networkx</a:t>
            </a:r>
            <a:r>
              <a:rPr lang="en-US" dirty="0">
                <a:sym typeface="Wingdings" panose="05000000000000000000" pitchFamily="2" charset="2"/>
              </a:rPr>
              <a:t>)</a:t>
            </a:r>
          </a:p>
          <a:p>
            <a:pPr marL="0" indent="0">
              <a:buFontTx/>
              <a:buNone/>
            </a:pPr>
            <a:endParaRPr lang="en-US" dirty="0">
              <a:sym typeface="Wingdings" panose="05000000000000000000" pitchFamily="2" charset="2"/>
            </a:endParaRPr>
          </a:p>
        </p:txBody>
      </p:sp>
    </p:spTree>
    <p:extLst>
      <p:ext uri="{BB962C8B-B14F-4D97-AF65-F5344CB8AC3E}">
        <p14:creationId xmlns:p14="http://schemas.microsoft.com/office/powerpoint/2010/main" val="468144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Chp.5 - Results</a:t>
            </a:r>
            <a:endParaRPr lang="fr-BE" dirty="0"/>
          </a:p>
        </p:txBody>
      </p:sp>
      <p:sp>
        <p:nvSpPr>
          <p:cNvPr id="5" name="TextBox 4">
            <a:extLst>
              <a:ext uri="{FF2B5EF4-FFF2-40B4-BE49-F238E27FC236}">
                <a16:creationId xmlns:a16="http://schemas.microsoft.com/office/drawing/2014/main" id="{1C70F5EB-D628-4D33-90C3-908BAEAACF37}"/>
              </a:ext>
            </a:extLst>
          </p:cNvPr>
          <p:cNvSpPr txBox="1"/>
          <p:nvPr/>
        </p:nvSpPr>
        <p:spPr>
          <a:xfrm>
            <a:off x="958970" y="1759610"/>
            <a:ext cx="688340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User importance:</a:t>
            </a:r>
          </a:p>
          <a:p>
            <a:pPr marL="171450" indent="-171450">
              <a:buFontTx/>
              <a:buChar char="-"/>
            </a:pPr>
            <a:r>
              <a:rPr lang="en-US" dirty="0" err="1">
                <a:sym typeface="Wingdings" panose="05000000000000000000" pitchFamily="2" charset="2"/>
              </a:rPr>
              <a:t>Efficience</a:t>
            </a:r>
            <a:r>
              <a:rPr lang="en-US" dirty="0">
                <a:sym typeface="Wingdings" panose="05000000000000000000" pitchFamily="2" charset="2"/>
              </a:rPr>
              <a:t> ranking comparison</a:t>
            </a:r>
          </a:p>
          <a:p>
            <a:pPr marL="171450" indent="-171450">
              <a:buFontTx/>
              <a:buChar char="-"/>
            </a:pPr>
            <a:endParaRPr lang="en-US" dirty="0">
              <a:sym typeface="Wingdings" panose="05000000000000000000" pitchFamily="2" charset="2"/>
            </a:endParaRPr>
          </a:p>
        </p:txBody>
      </p:sp>
    </p:spTree>
    <p:extLst>
      <p:ext uri="{BB962C8B-B14F-4D97-AF65-F5344CB8AC3E}">
        <p14:creationId xmlns:p14="http://schemas.microsoft.com/office/powerpoint/2010/main" val="2555179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Chp.5 - Results</a:t>
            </a:r>
            <a:endParaRPr lang="fr-BE" dirty="0"/>
          </a:p>
        </p:txBody>
      </p:sp>
      <p:sp>
        <p:nvSpPr>
          <p:cNvPr id="5" name="TextBox 4">
            <a:extLst>
              <a:ext uri="{FF2B5EF4-FFF2-40B4-BE49-F238E27FC236}">
                <a16:creationId xmlns:a16="http://schemas.microsoft.com/office/drawing/2014/main" id="{1C70F5EB-D628-4D33-90C3-908BAEAACF37}"/>
              </a:ext>
            </a:extLst>
          </p:cNvPr>
          <p:cNvSpPr txBox="1"/>
          <p:nvPr/>
        </p:nvSpPr>
        <p:spPr>
          <a:xfrm>
            <a:off x="958970" y="1759610"/>
            <a:ext cx="68834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Collective importance:</a:t>
            </a:r>
          </a:p>
          <a:p>
            <a:pPr marL="171450" indent="-171450">
              <a:buFontTx/>
              <a:buChar char="-"/>
            </a:pPr>
            <a:r>
              <a:rPr lang="en-US" dirty="0">
                <a:sym typeface="Wingdings" panose="05000000000000000000" pitchFamily="2" charset="2"/>
              </a:rPr>
              <a:t>Distress ranking comparison</a:t>
            </a:r>
          </a:p>
        </p:txBody>
      </p:sp>
    </p:spTree>
    <p:extLst>
      <p:ext uri="{BB962C8B-B14F-4D97-AF65-F5344CB8AC3E}">
        <p14:creationId xmlns:p14="http://schemas.microsoft.com/office/powerpoint/2010/main" val="2702504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Chp.6 - Following Steps</a:t>
            </a:r>
            <a:endParaRPr lang="fr-BE" dirty="0"/>
          </a:p>
        </p:txBody>
      </p:sp>
      <p:sp>
        <p:nvSpPr>
          <p:cNvPr id="5" name="TextBox 4">
            <a:extLst>
              <a:ext uri="{FF2B5EF4-FFF2-40B4-BE49-F238E27FC236}">
                <a16:creationId xmlns:a16="http://schemas.microsoft.com/office/drawing/2014/main" id="{C5BDFFFD-DF47-4673-8095-E9BA459078C9}"/>
              </a:ext>
            </a:extLst>
          </p:cNvPr>
          <p:cNvSpPr txBox="1"/>
          <p:nvPr/>
        </p:nvSpPr>
        <p:spPr>
          <a:xfrm>
            <a:off x="541867" y="1690687"/>
            <a:ext cx="11243733" cy="47089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1) </a:t>
            </a:r>
            <a:r>
              <a:rPr lang="en-US" sz="2000" dirty="0">
                <a:sym typeface="Wingdings" panose="05000000000000000000" pitchFamily="2" charset="2"/>
              </a:rPr>
              <a:t>Interconnect all possible modes of transport including bikes and walks.</a:t>
            </a:r>
            <a:endParaRPr lang="en-US" sz="2000" dirty="0"/>
          </a:p>
          <a:p>
            <a:pPr marL="0" indent="0">
              <a:buNone/>
            </a:pPr>
            <a:endParaRPr lang="en-US" sz="2000" dirty="0"/>
          </a:p>
          <a:p>
            <a:pPr marL="0" indent="0">
              <a:buNone/>
            </a:pPr>
            <a:endParaRPr lang="en-US" sz="2000" dirty="0"/>
          </a:p>
          <a:p>
            <a:pPr marL="0" indent="0">
              <a:buNone/>
            </a:pPr>
            <a:r>
              <a:rPr lang="en-US" sz="2000" dirty="0"/>
              <a:t>2) Use ML models for predictions of:</a:t>
            </a:r>
          </a:p>
          <a:p>
            <a:pPr marL="228600" indent="-228600">
              <a:buAutoNum type="arabicParenR"/>
            </a:pPr>
            <a:endParaRPr lang="en-US" sz="2000" dirty="0"/>
          </a:p>
          <a:p>
            <a:pPr marL="171450" indent="-171450">
              <a:buFont typeface="Wingdings" panose="05000000000000000000" pitchFamily="2" charset="2"/>
              <a:buChar char="à"/>
            </a:pPr>
            <a:r>
              <a:rPr lang="en-US" sz="2000" dirty="0"/>
              <a:t>TRAFFIC: Passenger flow: </a:t>
            </a:r>
            <a:r>
              <a:rPr lang="en-US" sz="2000" b="0" i="0" dirty="0">
                <a:solidFill>
                  <a:srgbClr val="24292F"/>
                </a:solidFill>
                <a:effectLst/>
                <a:latin typeface="-apple-system"/>
              </a:rPr>
              <a:t>From network lens (keeping passenger anonymity) , use more data (daily events) to more accurately understand why traffic is generated in each segments;</a:t>
            </a:r>
          </a:p>
          <a:p>
            <a:pPr marL="171450" indent="-171450">
              <a:buFont typeface="Wingdings" panose="05000000000000000000" pitchFamily="2" charset="2"/>
              <a:buChar char="à"/>
            </a:pPr>
            <a:endParaRPr lang="en-US" sz="2000" b="0" i="0" dirty="0">
              <a:solidFill>
                <a:srgbClr val="24292F"/>
              </a:solidFill>
              <a:effectLst/>
              <a:latin typeface="-apple-system"/>
            </a:endParaRPr>
          </a:p>
          <a:p>
            <a:pPr marL="171450" indent="-171450">
              <a:buFont typeface="Wingdings" panose="05000000000000000000" pitchFamily="2" charset="2"/>
              <a:buChar char="à"/>
            </a:pPr>
            <a:r>
              <a:rPr lang="en-US" sz="2000" b="0" i="0" dirty="0">
                <a:solidFill>
                  <a:srgbClr val="24292F"/>
                </a:solidFill>
                <a:effectLst/>
                <a:latin typeface="-apple-system"/>
              </a:rPr>
              <a:t>OPEX: Predict disruptions and its impact considering forecasted passenger traffic to optimize maintenance planning.</a:t>
            </a:r>
          </a:p>
          <a:p>
            <a:pPr marL="171450" indent="-171450">
              <a:buFont typeface="Wingdings" panose="05000000000000000000" pitchFamily="2" charset="2"/>
              <a:buChar char="à"/>
            </a:pPr>
            <a:endParaRPr lang="en-US" sz="2000" b="0" i="0" dirty="0">
              <a:solidFill>
                <a:srgbClr val="24292F"/>
              </a:solidFill>
              <a:effectLst/>
              <a:latin typeface="-apple-system"/>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2000" b="0" i="0" dirty="0">
                <a:solidFill>
                  <a:srgbClr val="24292F"/>
                </a:solidFill>
                <a:effectLst/>
                <a:latin typeface="-apple-system"/>
              </a:rPr>
              <a:t>Create a timetable dynamically tailored that optimize infra-structure towards the commuters needs.</a:t>
            </a:r>
          </a:p>
          <a:p>
            <a:pPr marL="171450" indent="-171450">
              <a:buFont typeface="Wingdings" panose="05000000000000000000" pitchFamily="2" charset="2"/>
              <a:buChar char="à"/>
            </a:pPr>
            <a:endParaRPr lang="en-US" sz="2000" b="0" i="0" dirty="0">
              <a:solidFill>
                <a:srgbClr val="24292F"/>
              </a:solidFill>
              <a:effectLst/>
              <a:latin typeface="-apple-system"/>
            </a:endParaRPr>
          </a:p>
          <a:p>
            <a:pPr marL="171450" indent="-171450">
              <a:buFont typeface="Wingdings" panose="05000000000000000000" pitchFamily="2" charset="2"/>
              <a:buChar char="à"/>
            </a:pPr>
            <a:r>
              <a:rPr lang="en-US" sz="2000" b="0" i="0" dirty="0">
                <a:solidFill>
                  <a:srgbClr val="24292F"/>
                </a:solidFill>
                <a:effectLst/>
                <a:latin typeface="-apple-system"/>
              </a:rPr>
              <a:t>CAPEX: More maintenance, less disruptions, less need for redundancy and more investment express lanes (study of origin and destination).  A study considering entries and exist of studies.</a:t>
            </a:r>
          </a:p>
        </p:txBody>
      </p:sp>
    </p:spTree>
    <p:extLst>
      <p:ext uri="{BB962C8B-B14F-4D97-AF65-F5344CB8AC3E}">
        <p14:creationId xmlns:p14="http://schemas.microsoft.com/office/powerpoint/2010/main" val="3254598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Chp.7 - Conclusion</a:t>
            </a:r>
            <a:endParaRPr lang="fr-BE" dirty="0"/>
          </a:p>
        </p:txBody>
      </p:sp>
      <p:sp>
        <p:nvSpPr>
          <p:cNvPr id="3" name="Content Placeholder 2">
            <a:extLst>
              <a:ext uri="{FF2B5EF4-FFF2-40B4-BE49-F238E27FC236}">
                <a16:creationId xmlns:a16="http://schemas.microsoft.com/office/drawing/2014/main" id="{DAE38D01-88EE-41C2-B9C1-6627C65A5A93}"/>
              </a:ext>
            </a:extLst>
          </p:cNvPr>
          <p:cNvSpPr>
            <a:spLocks noGrp="1"/>
          </p:cNvSpPr>
          <p:nvPr>
            <p:ph idx="1"/>
          </p:nvPr>
        </p:nvSpPr>
        <p:spPr/>
        <p:txBody>
          <a:bodyPr>
            <a:normAutofit fontScale="92500" lnSpcReduction="20000"/>
          </a:bodyPr>
          <a:lstStyle/>
          <a:p>
            <a:r>
              <a:rPr lang="en-US" dirty="0"/>
              <a:t>It is not necessary related to its size. But is related to how it was projected to assist the commuters.</a:t>
            </a:r>
          </a:p>
          <a:p>
            <a:endParaRPr lang="en-US" dirty="0"/>
          </a:p>
          <a:p>
            <a:r>
              <a:rPr lang="en-US" dirty="0"/>
              <a:t>Proper maintenances can reduce the number of disruption, for instance, it would be a waste invest in redundancies. More money could be destinated to reduce travels time. </a:t>
            </a:r>
          </a:p>
          <a:p>
            <a:endParaRPr lang="en-US" dirty="0"/>
          </a:p>
          <a:p>
            <a:r>
              <a:rPr lang="en-US" dirty="0"/>
              <a:t>In a real world, however, no disruptions comes with a high maintenance price. </a:t>
            </a:r>
          </a:p>
          <a:p>
            <a:endParaRPr lang="en-US" dirty="0"/>
          </a:p>
          <a:p>
            <a:r>
              <a:rPr lang="en-US" dirty="0"/>
              <a:t>The balance between effectiveness and robustness is a major question when comes down to a such important factor of the society evolvement.</a:t>
            </a:r>
          </a:p>
          <a:p>
            <a:endParaRPr lang="fr-BE" dirty="0"/>
          </a:p>
        </p:txBody>
      </p:sp>
    </p:spTree>
    <p:extLst>
      <p:ext uri="{BB962C8B-B14F-4D97-AF65-F5344CB8AC3E}">
        <p14:creationId xmlns:p14="http://schemas.microsoft.com/office/powerpoint/2010/main" val="3798559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2610</TotalTime>
  <Words>5317</Words>
  <Application>Microsoft Office PowerPoint</Application>
  <PresentationFormat>Widescreen</PresentationFormat>
  <Paragraphs>538</Paragraphs>
  <Slides>30</Slides>
  <Notes>30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30</vt:i4>
      </vt:variant>
    </vt:vector>
  </HeadingPairs>
  <TitlesOfParts>
    <vt:vector size="45" baseType="lpstr">
      <vt:lpstr>-apple-system</vt:lpstr>
      <vt:lpstr>Arial</vt:lpstr>
      <vt:lpstr>Calibri</vt:lpstr>
      <vt:lpstr>Calibri Light</vt:lpstr>
      <vt:lpstr>Cambria Math</vt:lpstr>
      <vt:lpstr>Dutch801BT-Italic</vt:lpstr>
      <vt:lpstr>Dutch801BT-Roman</vt:lpstr>
      <vt:lpstr>MTEX</vt:lpstr>
      <vt:lpstr>MTMI</vt:lpstr>
      <vt:lpstr>MTSY</vt:lpstr>
      <vt:lpstr>MTSYN</vt:lpstr>
      <vt:lpstr>Open Sans</vt:lpstr>
      <vt:lpstr>Times-Roman</vt:lpstr>
      <vt:lpstr>Wingdings</vt:lpstr>
      <vt:lpstr>Office Theme</vt:lpstr>
      <vt:lpstr>PowerPoint Presentation</vt:lpstr>
      <vt:lpstr>Chp.1 - Introduction (What is about)</vt:lpstr>
      <vt:lpstr>Chp.1 – The problem</vt:lpstr>
      <vt:lpstr>Chp.1 – The problem</vt:lpstr>
      <vt:lpstr>Chp.1 - What I have done</vt:lpstr>
      <vt:lpstr>Chp.3 - Data</vt:lpstr>
      <vt:lpstr>Chp.3 – Data Anomalies</vt:lpstr>
      <vt:lpstr>Chp.3 – Data Anomalies</vt:lpstr>
      <vt:lpstr>Chp.3 – Data Anomalies</vt:lpstr>
      <vt:lpstr>Chp.3 – Data Anomalies</vt:lpstr>
      <vt:lpstr>Chp.3 – Data Anomalies</vt:lpstr>
      <vt:lpstr>Chp.2 – Methodology – KPIs</vt:lpstr>
      <vt:lpstr>Chp.2 – Methodology – KPIs – Operation </vt:lpstr>
      <vt:lpstr>Chp.2 – Methodology – Operation KPIs</vt:lpstr>
      <vt:lpstr>Chp.2 – Methodology – End-User KPIs</vt:lpstr>
      <vt:lpstr>Chp.2 - Methodology</vt:lpstr>
      <vt:lpstr>Chp.2 - Methodology</vt:lpstr>
      <vt:lpstr>Chp.2 – Methodology – Filter</vt:lpstr>
      <vt:lpstr>Chp.2 - Methodology</vt:lpstr>
      <vt:lpstr>Chp.2 – Methodology – Comparisson </vt:lpstr>
      <vt:lpstr>Chp.4 - Modelling</vt:lpstr>
      <vt:lpstr>Chp.4 – Modelling – Centrality by mode</vt:lpstr>
      <vt:lpstr>Chp.5 - Results</vt:lpstr>
      <vt:lpstr>Chp.5 - Results</vt:lpstr>
      <vt:lpstr>Chp.5 - Results</vt:lpstr>
      <vt:lpstr>Chp.5 - Results</vt:lpstr>
      <vt:lpstr>Chp.5 - Results</vt:lpstr>
      <vt:lpstr>Chp.5 - Results</vt:lpstr>
      <vt:lpstr>Chp.6 - Following Steps</vt:lpstr>
      <vt:lpstr>Chp.7 -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Chp.1 - Introduction (What is about)</dc:title>
  <dc:creator>Breno Tiburcio</dc:creator>
  <cp:lastModifiedBy>Breno Soares Tiburcio</cp:lastModifiedBy>
  <cp:revision>14</cp:revision>
  <dcterms:created xsi:type="dcterms:W3CDTF">2022-04-28T11:51:40Z</dcterms:created>
  <dcterms:modified xsi:type="dcterms:W3CDTF">2023-11-02T11:33:23Z</dcterms:modified>
</cp:coreProperties>
</file>